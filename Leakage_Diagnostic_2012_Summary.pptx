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Leakage Diagnostic — Evergreen / 2012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PROF. WANG'S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91440" cy="11887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1">
                <a:solidFill>
                  <a:srgbClr val="1C211C"/>
                </a:solidFill>
                <a:latin typeface="Calibri"/>
              </a:rPr>
              <a:t>“What happens if you predict the 2012 LAI using a model that has already seen 2012 during training?”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55680" cy="2011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C"/>
                </a:solidFill>
                <a:latin typeface="Calibri"/>
              </a:rPr>
              <a:t>In LOYO-CV, every one of the 10 methods tested collapses to strongly negative R² (−4.5 to −8.5) on the evergreen pixel's 2012 fold — a real, severe drought year.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>
                <a:solidFill>
                  <a:srgbClr val="2F6F5E"/>
                </a:solidFill>
                <a:latin typeface="Calibri"/>
              </a:rPr>
              <a:t>▪  </a:t>
            </a:r>
            <a:r>
              <a:rPr sz="1800">
                <a:solidFill>
                  <a:srgbClr val="1C211C"/>
                </a:solidFill>
                <a:latin typeface="Calibri"/>
              </a:rPr>
              <a:t>Purpose of this diagnostic: find out whether that failure is mainly caused by 2012 being an unseen, out-of-distribution year, or by a limitation of the models themselves.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E"/>
                </a:solidFill>
                <a:latin typeface="Calibri"/>
              </a:rPr>
              <a:t>TAKEAWAY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4A3E"/>
                </a:solidFill>
                <a:latin typeface="Calibri"/>
              </a:rPr>
              <a:t>We test this directly: let each model see 2012 during fitting, and see how much recovers.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C211C"/>
                </a:solidFill>
                <a:latin typeface="Calibri"/>
              </a:rPr>
              <a:t>Experimental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5318607" cy="4572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318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ORIGINAL — valid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318607" cy="502920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E4A3E"/>
                </a:solidFill>
                <a:latin typeface="Calibri"/>
              </a:rPr>
              <a:t>Train: 2000–2011</a:t>
            </a:r>
          </a:p>
        </p:txBody>
      </p:sp>
      <p:sp>
        <p:nvSpPr>
          <p:cNvPr id="9" name="Down Arrow 8"/>
          <p:cNvSpPr/>
          <p:nvPr/>
        </p:nvSpPr>
        <p:spPr>
          <a:xfrm>
            <a:off x="2736734" y="2478024"/>
            <a:ext cx="850977" cy="274320"/>
          </a:xfrm>
          <a:prstGeom prst="downArrow">
            <a:avLst/>
          </a:prstGeom>
          <a:solidFill>
            <a:srgbClr val="5B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5318607" cy="5029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Test: 2012 (unseen)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531860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B6358"/>
                </a:solidFill>
                <a:latin typeface="Calibri"/>
              </a:rPr>
              <a:t>2012 never participates in fitting — this is the standard LOYO-CV protocol.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1143000"/>
            <a:ext cx="5318607" cy="457200"/>
          </a:xfrm>
          <a:prstGeom prst="rect">
            <a:avLst/>
          </a:prstGeom>
          <a:solidFill>
            <a:srgbClr val="A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143000"/>
            <a:ext cx="53186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DIAGNOSTIC — data leakage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0167" y="1920240"/>
            <a:ext cx="5318607" cy="502920"/>
          </a:xfrm>
          <a:prstGeom prst="rect">
            <a:avLst/>
          </a:prstGeom>
          <a:solidFill>
            <a:srgbClr val="F7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192024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A3402F"/>
                </a:solidFill>
                <a:latin typeface="Calibri"/>
              </a:rPr>
              <a:t>Train: includes 2012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603981" y="2478024"/>
            <a:ext cx="850977" cy="274320"/>
          </a:xfrm>
          <a:prstGeom prst="downArrow">
            <a:avLst/>
          </a:prstGeom>
          <a:solidFill>
            <a:srgbClr val="5B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70167" y="2834640"/>
            <a:ext cx="5318607" cy="502920"/>
          </a:xfrm>
          <a:prstGeom prst="rect">
            <a:avLst/>
          </a:prstGeom>
          <a:solidFill>
            <a:srgbClr val="A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283464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Evaluate: 2012 (seen)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167" y="3794760"/>
            <a:ext cx="5318607" cy="502920"/>
          </a:xfrm>
          <a:prstGeom prst="rect">
            <a:avLst/>
          </a:prstGeom>
          <a:solidFill>
            <a:srgbClr val="A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3794760"/>
            <a:ext cx="531860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⚠  NOT VALID EVALUATION — DELIBERATE DATA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72000"/>
            <a:ext cx="11185855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C"/>
                </a:solidFill>
                <a:latin typeface="Calibri"/>
              </a:rPr>
              <a:t>8 AELSTM-family models (full refit) + Chronos-2 via LoRA fine-tuning — zero-shot has no trainable weights, so it cannot “learn” 2012 and is excluded from this condition.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C"/>
                </a:solidFill>
                <a:latin typeface="Calibri"/>
              </a:rPr>
              <a:t>The evaluation forecast call is identical in both conditions — only the fitting data differs.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E"/>
                </a:solidFill>
                <a:latin typeface="Calibri"/>
              </a:rPr>
              <a:t>TAKEAWAY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4A3E"/>
                </a:solidFill>
                <a:latin typeface="Calibri"/>
              </a:rPr>
              <a:t>The only variable that changes is whether 2012 participated in fitting.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C211C"/>
                </a:solidFill>
                <a:latin typeface="Calibri"/>
              </a:rPr>
              <a:t>AELSTM-Family: Substantial but Incomplete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3</a:t>
            </a:r>
          </a:p>
        </p:txBody>
      </p:sp>
      <p:pic>
        <p:nvPicPr>
          <p:cNvPr id="5" name="Picture 4" descr="leakage_r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3924"/>
            <a:ext cx="7040880" cy="4302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417320"/>
            <a:ext cx="402336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C"/>
                </a:solidFill>
                <a:latin typeface="Calibri"/>
              </a:rPr>
              <a:t>Mean RMSE ↓ ~46% across all 8 models once 2012 is included in fitting.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C"/>
                </a:solidFill>
                <a:latin typeface="Calibri"/>
              </a:rPr>
              <a:t>Mean R² ↑ +5.17 — a consistent effect across very different architectures.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C"/>
                </a:solidFill>
                <a:latin typeface="Calibri"/>
              </a:rPr>
              <a:t>RF recovers the most, reaching R² = +0.59 — the only model to cross into positive territory.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C"/>
                </a:solidFill>
                <a:latin typeface="Calibri"/>
              </a:rPr>
              <a:t>The other 7 models improve substantially but remain negative (roughly −0.6 to −4.2).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E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4A3E"/>
                </a:solidFill>
                <a:latin typeface="Calibri"/>
              </a:rPr>
              <a:t>Every model improves — but only Random Forest crosses into positive R².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C211C"/>
                </a:solidFill>
                <a:latin typeface="Calibri"/>
              </a:rPr>
              <a:t>Chronos-2: LoRA Fine-Tuning With 2012 Included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leakage_prediction_curves_chrono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11430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26280"/>
            <a:ext cx="11185855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C"/>
                </a:solidFill>
                <a:latin typeface="Calibri"/>
              </a:rPr>
              <a:t>RMSE ↓ 59.9%   |   R²: −8.29 → −0.50   |   Pearson r: 0.13 → 0.65   |   ACC: −0.63 → 0.88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C"/>
                </a:solidFill>
                <a:latin typeface="Calibri"/>
              </a:rPr>
              <a:t>Zero-shot has no trainable weights, so LoRA fine-tuning is the only way to let Chronos-2 “see” 2012; both conditions reuse the existing, already-validated LoRA hyperparameters.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E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4A3E"/>
                </a:solidFill>
                <a:latin typeface="Calibri"/>
              </a:rPr>
              <a:t>Chronos-2 shows the same pattern as AELSTM: a large recovery, but still short of a good fit.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8E6E1"/>
                </a:solidFill>
                <a:latin typeface="Calibri"/>
              </a:rPr>
              <a:t>ANSWER TO PROF. WANG'S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Allowing the models to see 2012 substantially improves their ability to reproduce the 2012 LAI dynamics.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5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105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211C"/>
                </a:solidFill>
                <a:latin typeface="Calibri"/>
              </a:rPr>
              <a:t>The dominant cause of the original failure appears to be distribution shift.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B6358"/>
                </a:solidFill>
                <a:latin typeface="Calibri"/>
              </a:rPr>
              <a:t>2012 was a real drought, unlike anything in the preceding training history.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2783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211C"/>
                </a:solidFill>
                <a:latin typeface="Calibri"/>
              </a:rPr>
              <a:t>The effect is consistent across very different model architectures, including Chronos-2.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0332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B6358"/>
                </a:solidFill>
                <a:latin typeface="Calibri"/>
              </a:rPr>
              <a:t>RF, 6 neural sequence models, and a large pretrained transformer all improve substantially once 2012 participates in fitting — the signature of a shared external cause.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4515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211C"/>
                </a:solidFill>
                <a:latin typeface="Calibri"/>
              </a:rPr>
              <a:t>Model-specific limitations still remain.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B6358"/>
                </a:solidFill>
                <a:latin typeface="Calibri"/>
              </a:rPr>
              <a:t>Most models — including Chronos-2 — still have negative R² even after seeing 2012, so distribution shift is not the entire explanation.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