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Robustness Update: ERA5 Validation + Leave-One-Year-Out Cross-Validation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FOLLOW-UP TO LAST MEETING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10789920" cy="2743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Section 1: post-meeting supplement — the cloud-vs-CDS ERA5 visual comparison.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Section 2: addressing Prof. Wang's feedback that a single test year (2022) is not enough evidence — Leave-One-Year-Out Cross-Validation (11 held-out years, 2012–2022) on both the 70-pixel CONUS pool and the 68-pixel global pool, with an average variance statistic for each.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Chronos-2 remains strictly zero-shot throughout: no training or fine-tuning.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Same zero-shot model, same two pixel pools — now evaluated across 11 independent held-out years each, not just one.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SECTION 1 — POST-MEETING SUPPLEMENT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Section 1: ERA5 Equivalence — CDS vs. Cloud, Visualized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6355"/>
                </a:solidFill>
                <a:latin typeface="Calibri"/>
              </a:rPr>
              <a:t>Same evergreen pixel, 2021–2022 — actual daily values, not just a correlation coefficient:</a:t>
            </a:r>
          </a:p>
        </p:txBody>
      </p:sp>
      <p:pic>
        <p:nvPicPr>
          <p:cNvPr id="7" name="Picture 6" descr="cds_vs_cloud_era5_timeseries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104" y="1554480"/>
            <a:ext cx="7303487" cy="440740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Recap: the two ERA5 sources are visually near-indistinguishable for 6 of 7 variables; precipitation shows the one real, diagnosed discrepancy (convective-event spikes).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SECTION 2 — ROBUSTNESS VIA CROSS-VALIDATION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Section 2: Why Leave-One-Year-Out Cross-Validation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789920" cy="2377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Prof. Wang's feedback: scoring each pixel against a single test year (2022) is not sufficient evidence of robustness — a model can get lucky (or unlucky) on any one year.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Response: re-evaluate every pixel across 11 independent held-out years (2012–2022), each with its own fixed 12-year context window immediately preceding it — never the same context/test split twice.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This reuses this project's own already-established, already-published LOYO-CV protocol (Code/loyo_cv_chronos2.py, reports/LOYO_CV_FINDINGS.md) unmodified for the CONUS pool, and replicates the identical protocol for the global pool.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749040"/>
            <a:ext cx="2514600" cy="1051560"/>
          </a:xfrm>
          <a:prstGeom prst="roundRect">
            <a:avLst>
              <a:gd name="adj" fmla="val 12000"/>
            </a:avLst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858768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E4A33"/>
                </a:solidFill>
                <a:latin typeface="Calibri"/>
              </a:rPr>
              <a:t>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370832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C6355"/>
                </a:solidFill>
                <a:latin typeface="Calibri"/>
              </a:rPr>
              <a:t>CONUS pixels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3552" y="3749040"/>
            <a:ext cx="2514600" cy="1051560"/>
          </a:xfrm>
          <a:prstGeom prst="roundRect">
            <a:avLst>
              <a:gd name="adj" fmla="val 12000"/>
            </a:avLst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3858768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E4A33"/>
                </a:solidFill>
                <a:latin typeface="Calibri"/>
              </a:rPr>
              <a:t>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4370832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C6355"/>
                </a:solidFill>
                <a:latin typeface="Calibri"/>
              </a:rPr>
              <a:t>Global pixels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44184" y="3749040"/>
            <a:ext cx="2514600" cy="1051560"/>
          </a:xfrm>
          <a:prstGeom prst="roundRect">
            <a:avLst>
              <a:gd name="adj" fmla="val 12000"/>
            </a:avLst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44184" y="3858768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E4A33"/>
                </a:solidFill>
                <a:latin typeface="Calibri"/>
              </a:rP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44184" y="4370832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C6355"/>
                </a:solidFill>
                <a:latin typeface="Calibri"/>
              </a:rPr>
              <a:t>held-out years (2012–2022)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14816" y="3749040"/>
            <a:ext cx="2514600" cy="1051560"/>
          </a:xfrm>
          <a:prstGeom prst="roundRect">
            <a:avLst>
              <a:gd name="adj" fmla="val 12000"/>
            </a:avLst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14816" y="3858768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E4A33"/>
                </a:solidFill>
                <a:latin typeface="Calibri"/>
              </a:rPr>
              <a:t>Zero-shot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14816" y="4370832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C6355"/>
                </a:solidFill>
                <a:latin typeface="Calibri"/>
              </a:rPr>
              <a:t>no training/fine-tuning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1518 total LOYO folds evaluated (770 CONUS + 748 global) — zero-shot inference is fast enough to make this essentially free.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LOYO-CV Protocol (Identical for Both Pools)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789920" cy="1463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450">
                <a:solidFill>
                  <a:srgbClr val="2F6F5E"/>
                </a:solidFill>
                <a:latin typeface="Calibri"/>
              </a:rPr>
              <a:t>▪  </a:t>
            </a:r>
            <a:r>
              <a:rPr sz="1450">
                <a:solidFill>
                  <a:srgbClr val="1C2119"/>
                </a:solidFill>
                <a:latin typeface="Calibri"/>
              </a:rPr>
              <a:t>For each held-out test year Y ∈ {2012, ..., 2022}: context = years Y−12 .. Y−1 (fixed 12-year rolling window, not all-other-years, and not an expanding window) — this avoids confounding "hard year" with "how much data this fold happened to get."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450">
                <a:solidFill>
                  <a:srgbClr val="2F6F5E"/>
                </a:solidFill>
                <a:latin typeface="Calibri"/>
              </a:rPr>
              <a:t>▪  </a:t>
            </a:r>
            <a:r>
              <a:rPr sz="1450">
                <a:solidFill>
                  <a:srgbClr val="1C2119"/>
                </a:solidFill>
                <a:latin typeface="Calibri"/>
              </a:rPr>
              <a:t>future_covariates / ground truth = year Y only. Zero-shot Chronos-2 predicts Y from the 12-year context.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743200"/>
          <a:ext cx="1118585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0888"/>
                <a:gridCol w="4362483"/>
                <a:gridCol w="4362483"/>
              </a:tblGrid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CONUS pool (70 pixels)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Global pool (68 pixels)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119"/>
                          </a:solidFill>
                          <a:latin typeface="Calibri"/>
                        </a:rPr>
                        <a:t>Climate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gridMET (daily, CONUS-only)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Cloud ERA5 (same validated pipeline)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119"/>
                          </a:solidFill>
                          <a:latin typeface="Calibri"/>
                        </a:rPr>
                        <a:t>LAI ground truth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HiQ-LAI (8-day, CONUS-only)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MODIS MOD15A2H (8-day, QC-filtered)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119"/>
                          </a:solidFill>
                          <a:latin typeface="Calibri"/>
                        </a:rPr>
                        <a:t>Context per fold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~12 years, regular 8-day cadence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12-yr window, irregular (MODIS gaps)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119"/>
                          </a:solidFill>
                          <a:latin typeface="Calibri"/>
                        </a:rPr>
                        <a:t>Min. fold coverage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n/a (always complete)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≥20 context obs, ≥4 test obs (else skipped)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119"/>
                          </a:solidFill>
                          <a:latin typeface="Calibri"/>
                        </a:rPr>
                        <a:t>Folds run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770 / 770 (100%)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748 / 748 (100%, 0 skipped)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Same window length, same held-out years, same metrics (RMSE/MAE/MAPE/R²/Pearson r) for both pools — only the data source differs.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SECTION 2 — CONUS ROBUSTNESS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CONUS 70-Pixel Pool: LOYO-CV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2514600" cy="1005840"/>
          </a:xfrm>
          <a:prstGeom prst="roundRect">
            <a:avLst>
              <a:gd name="adj" fmla="val 12000"/>
            </a:avLst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52728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E4A33"/>
                </a:solidFill>
                <a:latin typeface="Calibri"/>
              </a:rPr>
              <a:t>0.749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64792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C6355"/>
                </a:solidFill>
                <a:latin typeface="Calibri"/>
              </a:rPr>
              <a:t>mean R² (across pixels × folds)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1143000"/>
            <a:ext cx="2514600" cy="1005840"/>
          </a:xfrm>
          <a:prstGeom prst="roundRect">
            <a:avLst>
              <a:gd name="adj" fmla="val 12000"/>
            </a:avLst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73552" y="1252728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E4A33"/>
                </a:solidFill>
                <a:latin typeface="Calibri"/>
              </a:rPr>
              <a:t>0.805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3552" y="1764792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C6355"/>
                </a:solidFill>
                <a:latin typeface="Calibri"/>
              </a:rPr>
              <a:t>mean of per-pixel median R²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44184" y="1143000"/>
            <a:ext cx="2514600" cy="1005840"/>
          </a:xfrm>
          <a:prstGeom prst="roundRect">
            <a:avLst>
              <a:gd name="adj" fmla="val 12000"/>
            </a:avLst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44184" y="1252728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E4A33"/>
                </a:solidFill>
                <a:latin typeface="Calibri"/>
              </a:rPr>
              <a:t>0.170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4184" y="1764792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C6355"/>
                </a:solidFill>
                <a:latin typeface="Calibri"/>
              </a:rPr>
              <a:t>average variance (per-pixel)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14816" y="1143000"/>
            <a:ext cx="2514600" cy="1005840"/>
          </a:xfrm>
          <a:prstGeom prst="roundRect">
            <a:avLst>
              <a:gd name="adj" fmla="val 12000"/>
            </a:avLst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14816" y="1252728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E4A33"/>
                </a:solidFill>
                <a:latin typeface="Calibri"/>
              </a:rPr>
              <a:t>0.005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14816" y="1764792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C6355"/>
                </a:solidFill>
                <a:latin typeface="Calibri"/>
              </a:rPr>
              <a:t>median variance (robust)</a:t>
            </a:r>
          </a:p>
        </p:txBody>
      </p:sp>
      <p:pic>
        <p:nvPicPr>
          <p:cNvPr id="18" name="Picture 17" descr="loyo_conus70_by_pix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629" y="2377440"/>
            <a:ext cx="9650436" cy="358444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2022-only median was 0.904; the 11-year picture is more conservative (mean R²=0.749) — variance concentrated in a few known-outlier pixels, not spread evenly across all 70.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SECTION 2 — GLOBAL (NON-CONUS)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Global Pool: How the Data Was Processed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C6355"/>
                </a:solidFill>
                <a:latin typeface="Calibri"/>
              </a:rPr>
              <a:t>Climate: </a:t>
            </a:r>
          </a:p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C2119"/>
                </a:solidFill>
                <a:latin typeface="Calibri"/>
              </a:rPr>
              <a:t>Google ARCO-ERA5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6355"/>
                </a:solidFill>
                <a:latin typeface="Calibri"/>
              </a:rPr>
              <a:t> (cloud Zarr, 0.25°, validated pipeline).  </a:t>
            </a:r>
          </a:p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C6355"/>
                </a:solidFill>
                <a:latin typeface="Calibri"/>
              </a:rPr>
              <a:t>LAI: </a:t>
            </a:r>
          </a:p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C2119"/>
                </a:solidFill>
                <a:latin typeface="Calibri"/>
              </a:rPr>
              <a:t>MODIS MOD15A2H.061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6355"/>
                </a:solidFill>
                <a:latin typeface="Calibri"/>
              </a:rPr>
              <a:t> via NASA AppEEARS (gridMET/HiQ-LAI don't exist outside CONUS).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85854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039"/>
                <a:gridCol w="8053815"/>
              </a:tblGrid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T="38100" marB="38100"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marT="38100" marB="38100">
                    <a:solidFill>
                      <a:srgbClr val="8C1D40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119"/>
                          </a:solidFill>
                          <a:latin typeface="Calibri"/>
                        </a:rPr>
                        <a:t>Pixel selection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70 pixels, farthest-point sampling on global ESA CCI PFT, 14 world regions, purity 0.44–1.00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119"/>
                          </a:solidFill>
                          <a:latin typeface="Calibri"/>
                        </a:rPr>
                        <a:t>Climate variables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7 Chronos-2 variables (tmmx, tmmn, pr, srad, vpd, sph, vs) — same mapping as CONUS ERA5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119"/>
                          </a:solidFill>
                          <a:latin typeface="Calibri"/>
                        </a:rPr>
                        <a:t>LAI acquisition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MOD15A2H.061 Lai_500m, 8-day, 500m, Terra-only (2000 onward)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119"/>
                          </a:solidFill>
                          <a:latin typeface="Calibri"/>
                        </a:rPr>
                        <a:t>LAI quality filter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MODLAND-good-quality only (FparLai_QC bit 0 == 0) — keeps 68.1% of pixel-dates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119"/>
                          </a:solidFill>
                          <a:latin typeface="Calibri"/>
                        </a:rPr>
                        <a:t>LAI-climate alignment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ERA5 daily values averaged over each LAI 8-day window (identical to CONUS pipeline)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119"/>
                          </a:solidFill>
                          <a:latin typeface="Calibri"/>
                        </a:rPr>
                        <a:t>Coverage result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68/70 pixels usable (2 excluded: Arctic polar night, SE Asia monsoon cloud)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3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A1228"/>
                </a:solidFill>
                <a:latin typeface="Calibri"/>
              </a:rPr>
              <a:t>TAKEAWAY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5A1228"/>
                </a:solidFill>
                <a:latin typeface="Calibri"/>
              </a:rPr>
              <a:t>Same 7-variable ERA5 mapping and LAI-alignment logic as CONUS — only the raw data sources changed to genuinely global products.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SECTION 2 — GLOBAL (NON-CONUS)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Global Pool: Best Zero-Shot Results, Diverse Regions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global70_top_performers_test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490" y="1143000"/>
            <a:ext cx="4562714" cy="48646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3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A1228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5A1228"/>
                </a:solidFill>
                <a:latin typeface="Calibri"/>
              </a:rPr>
              <a:t>8 pixels spanning the Mediterranean, Africa, Siberia, Canada, East Asia, and South America — R²=0.64–0.92 on the single 2022 test year.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SECTION 2 — GLOBAL (NON-CONUS)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Full Pool vs. an Exploratory Performance-Selected Subset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6355"/>
                </a:solidFill>
                <a:latin typeface="Calibri"/>
              </a:rPr>
              <a:t>Question: how much does performance improve in a best-case subset? Answered transparently — this is exploratory, not a second estimate of the overall result.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85852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3190"/>
                <a:gridCol w="894868"/>
                <a:gridCol w="1677878"/>
                <a:gridCol w="1677878"/>
                <a:gridCol w="1566019"/>
                <a:gridCol w="1566019"/>
              </a:tblGrid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marT="38100" marB="38100"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T="38100" marB="38100"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 R²</a:t>
                      </a:r>
                    </a:p>
                  </a:txBody>
                  <a:tcPr marT="38100" marB="38100"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Median R²</a:t>
                      </a:r>
                    </a:p>
                  </a:txBody>
                  <a:tcPr marT="38100" marB="38100"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Avg. variance</a:t>
                      </a:r>
                    </a:p>
                  </a:txBody>
                  <a:tcPr marT="38100" marB="38100"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Median variance</a:t>
                      </a:r>
                    </a:p>
                  </a:txBody>
                  <a:tcPr marT="38100" marB="38100">
                    <a:solidFill>
                      <a:srgbClr val="8C1D40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119"/>
                          </a:solidFill>
                          <a:latin typeface="Calibri"/>
                        </a:rPr>
                        <a:t>Full global pool — PRIMARY RESULT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0.348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0.393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0.106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0.030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119"/>
                          </a:solidFill>
                          <a:latin typeface="Calibri"/>
                        </a:rPr>
                        <a:t>Top-20 by mean R² — EXPLORATORY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C2119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C2119"/>
                          </a:solidFill>
                          <a:latin typeface="Calibri"/>
                        </a:rPr>
                        <a:t>0.690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C2119"/>
                          </a:solidFill>
                          <a:latin typeface="Calibri"/>
                        </a:rPr>
                        <a:t>0.710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C2119"/>
                          </a:solidFill>
                          <a:latin typeface="Calibri"/>
                        </a:rPr>
                        <a:t>0.022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C2119"/>
                          </a:solidFill>
                          <a:latin typeface="Calibri"/>
                        </a:rPr>
                        <a:t>0.016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29260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1C2119"/>
                </a:solidFill>
                <a:latin typeface="Calibri"/>
              </a:rPr>
              <a:t>Selection rule: top 20 of 68 pixels ranked BY mean LOYO-CV R² itself (2012–2022, 11 folds). Threshold: mean R² ≥ 0.594.</a:t>
            </a:r>
          </a:p>
        </p:txBody>
      </p:sp>
      <p:pic>
        <p:nvPicPr>
          <p:cNvPr id="9" name="Picture 8" descr="loyo_global_full_vs_top20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254" y="3383280"/>
            <a:ext cx="2185732" cy="1938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63640" y="3474720"/>
            <a:ext cx="5029200" cy="2468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250">
                <a:solidFill>
                  <a:srgbClr val="8C1D40"/>
                </a:solidFill>
                <a:latin typeface="Calibri"/>
              </a:rPr>
              <a:t>▪  </a:t>
            </a:r>
            <a:r>
              <a:rPr sz="1250">
                <a:solidFill>
                  <a:srgbClr val="1C2119"/>
                </a:solidFill>
                <a:latin typeface="Calibri"/>
              </a:rPr>
              <a:t>These 20 pixels are drawn from the same top-performer showcase on the previous slide — this is the same success cases, now quantified as a group.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250">
                <a:solidFill>
                  <a:srgbClr val="8C1D40"/>
                </a:solidFill>
                <a:latin typeface="Calibri"/>
              </a:rPr>
              <a:t>▪  </a:t>
            </a:r>
            <a:r>
              <a:rPr sz="1250">
                <a:solidFill>
                  <a:srgbClr val="1C2119"/>
                </a:solidFill>
                <a:latin typeface="Calibri"/>
              </a:rPr>
              <a:t>Selecting on the outcome metric itself means this subset's statistics cannot be read as "what a typical non-CONUS pixel achieves" — that is what the full-pool row (and every other report/slide in this project) reports.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A3D0A"/>
                </a:solidFill>
                <a:latin typeface="Calibri"/>
              </a:rPr>
              <a:t>TAKEAWAY 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7A3D0A"/>
                </a:solidFill>
                <a:latin typeface="Calibri"/>
              </a:rPr>
              <a:t>Subset statistics are conditional on performance-based selection and are NOT representative of the full global pool. The full-pool result remains the primary, reported finding.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SECTION 2 — GLOBAL ROBUSTNESS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Global 68-Pixel Pool: LOYO-CV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2514600" cy="1005840"/>
          </a:xfrm>
          <a:prstGeom prst="roundRect">
            <a:avLst>
              <a:gd name="adj" fmla="val 12000"/>
            </a:avLst>
          </a:prstGeom>
          <a:solidFill>
            <a:srgbClr val="F3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52728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6B1A33"/>
                </a:solidFill>
                <a:latin typeface="Calibri"/>
              </a:rPr>
              <a:t>0.348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64792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C6355"/>
                </a:solidFill>
                <a:latin typeface="Calibri"/>
              </a:rPr>
              <a:t>mean R² (across pixels × folds)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1143000"/>
            <a:ext cx="2514600" cy="1005840"/>
          </a:xfrm>
          <a:prstGeom prst="roundRect">
            <a:avLst>
              <a:gd name="adj" fmla="val 12000"/>
            </a:avLst>
          </a:prstGeom>
          <a:solidFill>
            <a:srgbClr val="F3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73552" y="1252728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6B1A33"/>
                </a:solidFill>
                <a:latin typeface="Calibri"/>
              </a:rPr>
              <a:t>0.400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3552" y="1764792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C6355"/>
                </a:solidFill>
                <a:latin typeface="Calibri"/>
              </a:rPr>
              <a:t>mean of per-pixel median R²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44184" y="1143000"/>
            <a:ext cx="2514600" cy="1005840"/>
          </a:xfrm>
          <a:prstGeom prst="roundRect">
            <a:avLst>
              <a:gd name="adj" fmla="val 12000"/>
            </a:avLst>
          </a:prstGeom>
          <a:solidFill>
            <a:srgbClr val="F3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44184" y="1252728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6B1A33"/>
                </a:solidFill>
                <a:latin typeface="Calibri"/>
              </a:rPr>
              <a:t>0.106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4184" y="1764792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C6355"/>
                </a:solidFill>
                <a:latin typeface="Calibri"/>
              </a:rPr>
              <a:t>average variance (per-pixel)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14816" y="1143000"/>
            <a:ext cx="2514600" cy="1005840"/>
          </a:xfrm>
          <a:prstGeom prst="roundRect">
            <a:avLst>
              <a:gd name="adj" fmla="val 12000"/>
            </a:avLst>
          </a:prstGeom>
          <a:solidFill>
            <a:srgbClr val="F3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14816" y="1252728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6B1A33"/>
                </a:solidFill>
                <a:latin typeface="Calibri"/>
              </a:rPr>
              <a:t>0.030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14816" y="1764792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C6355"/>
                </a:solidFill>
                <a:latin typeface="Calibri"/>
              </a:rPr>
              <a:t>median variance (robust)</a:t>
            </a:r>
          </a:p>
        </p:txBody>
      </p:sp>
      <p:pic>
        <p:nvPicPr>
          <p:cNvPr id="18" name="Picture 17" descr="loyo_global68_by_pix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629" y="2377440"/>
            <a:ext cx="9650436" cy="358444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3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A1228"/>
                </a:solidFill>
                <a:latin typeface="Calibri"/>
              </a:rPr>
              <a:t>TAKEAWAY 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5A1228"/>
                </a:solidFill>
                <a:latin typeface="Calibri"/>
              </a:rPr>
              <a:t>Single-year (2022) median was 0.353; the 11-year mean R²=0.348 is consistent with it — the global result is weaker than CONUS but not a single-year artifact.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INTEGRATING BOTH POOLS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CONUS vs. Global: Variance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10</a:t>
            </a:r>
          </a:p>
        </p:txBody>
      </p:sp>
      <p:pic>
        <p:nvPicPr>
          <p:cNvPr id="6" name="Picture 5" descr="loyo_varian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52603"/>
            <a:ext cx="11185855" cy="484540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Typical variance is lower for CONUS (0.005 vs. Global's 0.030) — but CONUS has a longer extreme-outlier tail (e.g. evergreen's 2012 drought fold).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INTEGRATING BOTH POOLS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Is Any Single Year Uniformly Hard?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11</a:t>
            </a:r>
          </a:p>
        </p:txBody>
      </p:sp>
      <p:pic>
        <p:nvPicPr>
          <p:cNvPr id="6" name="Picture 5" descr="loyo_r2_by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761" y="1143000"/>
            <a:ext cx="8764172" cy="48646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No — median R² across pixels stays consistently high in every one of the 11 held-out years for both pools. Individual-pixel bad folds (e.g. droughts) don't show up as population-wide crashes.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PROF. WANG'S FOLLOW-UP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Follow-Up: Does This Actually Capture Inter-Annual Variability?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789920" cy="1828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>
                <a:solidFill>
                  <a:srgbClr val="2F6F5E"/>
                </a:solidFill>
                <a:latin typeface="Calibri"/>
              </a:rPr>
              <a:t>▪  </a:t>
            </a:r>
            <a:r>
              <a:rPr sz="1500">
                <a:solidFill>
                  <a:srgbClr val="1C2119"/>
                </a:solidFill>
                <a:latin typeface="Calibri"/>
              </a:rPr>
              <a:t>Concern: the per-fold R² above is computed ACROSS TIME within one held-out year — both actual and predicted LAI follow the same strong seasonal cycle, so this R² is largely "did the model get the seasonal shape right," not "did it capture real year-to-year differences."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>
                <a:solidFill>
                  <a:srgbClr val="2F6F5E"/>
                </a:solidFill>
                <a:latin typeface="Calibri"/>
              </a:rPr>
              <a:t>▪  </a:t>
            </a:r>
            <a:r>
              <a:rPr sz="1500">
                <a:solidFill>
                  <a:srgbClr val="1C2119"/>
                </a:solidFill>
                <a:latin typeface="Calibri"/>
              </a:rPr>
              <a:t>Fix: fix the CALENDAR POSITION (e.g. the 1st 8-day composite of the year) and compute R² ACROSS the 11 held-out years at that position, per pixel — this removes the seasonal cycle entirely, isolating genuine inter-annual variability.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10896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5651D"/>
                </a:solidFill>
                <a:latin typeface="Calibri"/>
              </a:rPr>
              <a:t>RESULT: with only ≤11 points per pixel-position, R² itself is unstable (mean turns negative — a known small-sample failure mode); Pearson r is far more robust at this sample size: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474720"/>
          <a:ext cx="11185855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1513"/>
                <a:gridCol w="2237171"/>
                <a:gridCol w="2237171"/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Metric (mean of per-position, per-pixel value)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CONUS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Global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R² (unstable at n≤11 — shown for completeness)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-0.344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-0.431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Pearson r (robust — the informative number here)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0.288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0.176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Genuine inter-annual signal is real but modest (Pearson r≈0.29 CONUS, ≈0.18 Global) — much weaker than the within-year R² suggested. Prof. Wang's concern was well-founded.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PROF. WANG'S FOLLOW-UP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Inter-Annual Signal Weakens Over the Forecast Horizon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13</a:t>
            </a:r>
          </a:p>
        </p:txBody>
      </p:sp>
      <p:pic>
        <p:nvPicPr>
          <p:cNvPr id="6" name="Picture 5" descr="loyo_pearsonr_by_composite_position_per_pix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450" y="1143000"/>
            <a:ext cx="9638795" cy="48646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Both pools show the same pattern: correlation with true inter-annual variation is highest early in the forecast (r≈0.4-0.5) and steadily declines toward the far end of the 45-step horizon (r≈0.0-0.2) — consistent with forecast skill degrading over lead time, not a pool-specific issue.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PROF. WANG'S FOLLOW-UP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Second Follow-Up: Forecast the Anomaly Directly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789920" cy="1554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>
                <a:solidFill>
                  <a:srgbClr val="2F6F5E"/>
                </a:solidFill>
                <a:latin typeface="Calibri"/>
              </a:rPr>
              <a:t>▪  </a:t>
            </a:r>
            <a:r>
              <a:rPr sz="1500">
                <a:solidFill>
                  <a:srgbClr val="1C2119"/>
                </a:solidFill>
                <a:latin typeface="Calibri"/>
              </a:rPr>
              <a:t>Suggestion: rather than forecasting raw LAI and decomposing the seasonal cycle out AFTERWARD (slide 12), give Chronos-2 the per-calendar-position LAI anomaly (value minus its context-years-only climatology) as BOTH the context and the forecast target directly - weather covariates unchanged - and re-score R²/Pearson r on the anomaly itself.</a:t>
            </a:r>
          </a:p>
        </p:txBody>
      </p:sp>
      <p:pic>
        <p:nvPicPr>
          <p:cNvPr id="7" name="Picture 6" descr="loyo_anomaly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284" y="2834640"/>
            <a:ext cx="7411126" cy="31729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Independent confirmation: Pearson r≈0.30 CONUS / ≈0.18 Global — within rounding of slide 13's composite-position result (≈0.29/0.18) despite a completely different computation. R² is again unstable and mostly negative at this sample size - same caveat as before.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Summary: What LOYO-CV Adds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4A33"/>
                </a:solidFill>
                <a:latin typeface="Calibri"/>
              </a:rPr>
              <a:t>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0789920" cy="1188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00">
                <a:solidFill>
                  <a:srgbClr val="2F6F5E"/>
                </a:solidFill>
                <a:latin typeface="Calibri"/>
              </a:rPr>
              <a:t>▪  </a:t>
            </a:r>
            <a:r>
              <a:rPr sz="1400">
                <a:solidFill>
                  <a:srgbClr val="1C2119"/>
                </a:solidFill>
                <a:latin typeface="Calibri"/>
              </a:rPr>
              <a:t>CONUS (70 pixels, 770 folds): mean R²=0.749, average per-pixel variance=0.170 (median variance=0.005 — most pixels are very stable; a handful of outliers dominate the mean).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00">
                <a:solidFill>
                  <a:srgbClr val="2F6F5E"/>
                </a:solidFill>
                <a:latin typeface="Calibri"/>
              </a:rPr>
              <a:t>▪  </a:t>
            </a:r>
            <a:r>
              <a:rPr sz="1400">
                <a:solidFill>
                  <a:srgbClr val="1C2119"/>
                </a:solidFill>
                <a:latin typeface="Calibri"/>
              </a:rPr>
              <a:t>Global (68 pixels, 748 folds): mean R²=0.348, average per-pixel variance=0.106 (median variance=0.030).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5651D"/>
                </a:solidFill>
                <a:latin typeface="Calibri"/>
              </a:rPr>
              <a:t>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63240"/>
            <a:ext cx="10789920" cy="1783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>
                <a:solidFill>
                  <a:srgbClr val="B5651D"/>
                </a:solidFill>
                <a:latin typeface="Calibri"/>
              </a:rPr>
              <a:t>▪  </a:t>
            </a:r>
            <a:r>
              <a:rPr sz="1350">
                <a:solidFill>
                  <a:srgbClr val="1C2119"/>
                </a:solidFill>
                <a:latin typeface="Calibri"/>
              </a:rPr>
              <a:t>The single-year (2022) results were not a fluke: 11-year cross-validation confirms the same overall pattern — CONUS robustly strong, global weaker but not collapsing — at a more conservative, defensible confidence level than a one-year test can provide.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>
                <a:solidFill>
                  <a:srgbClr val="B5651D"/>
                </a:solidFill>
                <a:latin typeface="Calibri"/>
              </a:rPr>
              <a:t>▪  </a:t>
            </a:r>
            <a:r>
              <a:rPr sz="1350">
                <a:solidFill>
                  <a:srgbClr val="1C2119"/>
                </a:solidFill>
                <a:latin typeface="Calibri"/>
              </a:rPr>
              <a:t>Both pools show the SAME structure: most pixels are stable year to year; a small minority of outlier pixels (often already diagnosable, e.g. a drought year) account for most of the variance.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>
                <a:solidFill>
                  <a:srgbClr val="B5651D"/>
                </a:solidFill>
                <a:latin typeface="Calibri"/>
              </a:rPr>
              <a:t>▪  </a:t>
            </a:r>
            <a:r>
              <a:rPr sz="1350">
                <a:solidFill>
                  <a:srgbClr val="1C2119"/>
                </a:solidFill>
                <a:latin typeface="Calibri"/>
              </a:rPr>
              <a:t>Follow-up (Prof. Wang): within-year R² mostly reflects seasonal-shape matching, not true inter-annual tracking — isolating the latter gives a modest positive signal (Pearson r≈0.29/0.18) that weakens over the forecast horizon.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>
                <a:solidFill>
                  <a:srgbClr val="B5651D"/>
                </a:solidFill>
                <a:latin typeface="Calibri"/>
              </a:rPr>
              <a:t>▪  </a:t>
            </a:r>
            <a:r>
              <a:rPr sz="1350">
                <a:solidFill>
                  <a:srgbClr val="1C2119"/>
                </a:solidFill>
                <a:latin typeface="Calibri"/>
              </a:rPr>
              <a:t>Second follow-up (Prof. Wang): forecasting the LAI anomaly directly gives the same answer (Pearson r≈0.30/0.18) via a completely independent computation — the modest inter-annual signal is a robust finding, not an artifact of one particular analysis method.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30352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C6355"/>
                </a:solidFill>
                <a:latin typeface="Calibri"/>
              </a:rPr>
              <a:t>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623560"/>
            <a:ext cx="107899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50">
                <a:solidFill>
                  <a:srgbClr val="5C6355"/>
                </a:solidFill>
                <a:latin typeface="Calibri"/>
              </a:rPr>
              <a:t>▪  </a:t>
            </a:r>
            <a:r>
              <a:rPr sz="1350">
                <a:solidFill>
                  <a:srgbClr val="1C2119"/>
                </a:solidFill>
                <a:latin typeface="Calibri"/>
              </a:rPr>
              <a:t>Investigate the highest-variance pixels in each pool individually (CONUS: evergreen, px035_shrubs_nd, px017_grass_man; Global: g001_shrubs_nd, g006_trees_ne, g002_grass_nat).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Prof. Wang's concern addressed directly: both experiments now stand on 11 years of held-out evidence, not 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