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Zero-Shot Chronos-2 for LAI Forecasting: Two Large-Scale CONUS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LAB MEETING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0789920" cy="2743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1600"/>
              </a:spcAft>
            </a:pPr>
            <a:r>
              <a:rPr sz="1800">
                <a:solidFill>
                  <a:srgbClr val="2F6F5E"/>
                </a:solidFill>
                <a:latin typeface="Calibri"/>
              </a:rPr>
              <a:t>▪  </a:t>
            </a:r>
            <a:r>
              <a:rPr sz="1800">
                <a:solidFill>
                  <a:srgbClr val="1C2119"/>
                </a:solidFill>
                <a:latin typeface="Calibri"/>
              </a:rPr>
              <a:t>Experiment 1: gridMET zero-shot generalization, expanded to a 32-pixel purity-filtered CONUS subset.</a:t>
            </a:r>
          </a:p>
          <a:p>
            <a:pPr>
              <a:lnSpc>
                <a:spcPct val="106000"/>
              </a:lnSpc>
              <a:spcAft>
                <a:spcPts val="1600"/>
              </a:spcAft>
            </a:pPr>
            <a:r>
              <a:rPr sz="1800">
                <a:solidFill>
                  <a:srgbClr val="2F6F5E"/>
                </a:solidFill>
                <a:latin typeface="Calibri"/>
              </a:rPr>
              <a:t>▪  </a:t>
            </a:r>
            <a:r>
              <a:rPr sz="1800">
                <a:solidFill>
                  <a:srgbClr val="1C2119"/>
                </a:solidFill>
                <a:latin typeface="Calibri"/>
              </a:rPr>
              <a:t>Experiment 2: switching the meteorological source to cloud-hosted ERA5 (Google ARCO-ERA5) and scaling to the full 70-pixel CONUS pool with a matched 22-year context.</a:t>
            </a:r>
          </a:p>
          <a:p>
            <a:pPr>
              <a:lnSpc>
                <a:spcPct val="106000"/>
              </a:lnSpc>
              <a:spcAft>
                <a:spcPts val="1600"/>
              </a:spcAft>
            </a:pPr>
            <a:r>
              <a:rPr sz="1800">
                <a:solidFill>
                  <a:srgbClr val="2F6F5E"/>
                </a:solidFill>
                <a:latin typeface="Calibri"/>
              </a:rPr>
              <a:t>▪  </a:t>
            </a:r>
            <a:r>
              <a:rPr sz="1800">
                <a:solidFill>
                  <a:srgbClr val="1C2119"/>
                </a:solidFill>
                <a:latin typeface="Calibri"/>
              </a:rPr>
              <a:t>Chronos-2 used strictly zero-shot throughout both experiments: no training or fine-tuning.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Two independently sourced meteorological datasets, same 70-pixel CONUS pool, same zero-shot protocol — a direct test of how robust the earlier gridMET result really is.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Motivation &amp; Research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3017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>
                <a:solidFill>
                  <a:srgbClr val="2F6F5E"/>
                </a:solidFill>
                <a:latin typeface="Calibri"/>
              </a:rPr>
              <a:t>▪  </a:t>
            </a:r>
            <a:r>
              <a:rPr sz="1700">
                <a:solidFill>
                  <a:srgbClr val="1C2119"/>
                </a:solidFill>
                <a:latin typeface="Calibri"/>
              </a:rPr>
              <a:t>Prior work established strong zero-shot Chronos-2 LAI forecasting on 3 hand-picked CONUS pixels using gridMET — the open question was whether that result generalizes.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>
                <a:solidFill>
                  <a:srgbClr val="2F6F5E"/>
                </a:solidFill>
                <a:latin typeface="Calibri"/>
              </a:rPr>
              <a:t>▪  </a:t>
            </a:r>
            <a:r>
              <a:rPr sz="1700">
                <a:solidFill>
                  <a:srgbClr val="1C2119"/>
                </a:solidFill>
                <a:latin typeface="Calibri"/>
              </a:rPr>
              <a:t>Experiment 1 asks: does the result hold across a larger, independently-selected, diverse pixel pool — not just 3 favorable locations?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>
                <a:solidFill>
                  <a:srgbClr val="2F6F5E"/>
                </a:solidFill>
                <a:latin typeface="Calibri"/>
              </a:rPr>
              <a:t>▪  </a:t>
            </a:r>
            <a:r>
              <a:rPr sz="1700">
                <a:solidFill>
                  <a:srgbClr val="1C2119"/>
                </a:solidFill>
                <a:latin typeface="Calibri"/>
              </a:rPr>
              <a:t>Experiment 2 asks a second, independent question: is the result specific to gridMET, or does it hold with a different meteorological reanalysis product (ERA5) under an identical protocol?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343400"/>
            <a:ext cx="3429000" cy="105156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4453128"/>
            <a:ext cx="3429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70 → 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965192"/>
            <a:ext cx="3429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gridMET: purity-filtered CONUS subset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4343400"/>
            <a:ext cx="3429000" cy="105156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4453128"/>
            <a:ext cx="3429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70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4965192"/>
            <a:ext cx="3429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ERA5: full CONUS pool, matched context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09560" y="4343400"/>
            <a:ext cx="3429000" cy="105156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4453128"/>
            <a:ext cx="3429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Zero-shot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965192"/>
            <a:ext cx="3429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no training/fine-tuning in either study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Both experiments reuse the same pixel-selection pipeline and evaluation protocol — the only thing that changes is what's being tested.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EXPERIMENT 1 — GRIDMET EXPANSION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Experiment 1: Design &amp; Pixel Selection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4114800" cy="42062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>
                <a:solidFill>
                  <a:srgbClr val="2F6F5E"/>
                </a:solidFill>
                <a:latin typeface="Calibri"/>
              </a:rPr>
              <a:t>▪  </a:t>
            </a:r>
            <a:r>
              <a:rPr sz="1550">
                <a:solidFill>
                  <a:srgbClr val="1C2119"/>
                </a:solidFill>
                <a:latin typeface="Calibri"/>
              </a:rPr>
              <a:t>Starting pool: 70 CONUS pixels, farthest-point-sampled across an 8-class vegetation-composition space, spanning 9 U.S. regions (already used for the full 70-pixel gridMET study).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>
                <a:solidFill>
                  <a:srgbClr val="2F6F5E"/>
                </a:solidFill>
                <a:latin typeface="Calibri"/>
              </a:rPr>
              <a:t>▪  </a:t>
            </a:r>
            <a:r>
              <a:rPr sz="1550">
                <a:solidFill>
                  <a:srgbClr val="1C2119"/>
                </a:solidFill>
                <a:latin typeface="Calibri"/>
              </a:rPr>
              <a:t>This experiment isolates the 32 pixels with PFT purity ≥ 0.75 — the "clearly one vegetation type" subset, a harder bar than the full mixed-composition pool.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>
                <a:solidFill>
                  <a:srgbClr val="2F6F5E"/>
                </a:solidFill>
                <a:latin typeface="Calibri"/>
              </a:rPr>
              <a:t>▪  </a:t>
            </a:r>
            <a:r>
              <a:rPr sz="1550">
                <a:solidFill>
                  <a:srgbClr val="1C2119"/>
                </a:solidFill>
                <a:latin typeface="Calibri"/>
              </a:rPr>
              <a:t>Protocol: context = 2000–2021 (~1,000 8-day LAI composites), forecast = all steps of 2022, zero-shot Chronos-2, scored against raw observed LAI.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>
                <a:solidFill>
                  <a:srgbClr val="2F6F5E"/>
                </a:solidFill>
                <a:latin typeface="Calibri"/>
              </a:rPr>
              <a:t>▪  </a:t>
            </a:r>
            <a:r>
              <a:rPr sz="1550">
                <a:solidFill>
                  <a:srgbClr val="1C2119"/>
                </a:solidFill>
                <a:latin typeface="Calibri"/>
              </a:rPr>
              <a:t>No new downloads — this study reuses gridMET/HiQ-LAI data already available locally.</a:t>
            </a:r>
          </a:p>
        </p:txBody>
      </p:sp>
      <p:pic>
        <p:nvPicPr>
          <p:cNvPr id="7" name="Picture 6" descr="map_32pixel_con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720538"/>
            <a:ext cx="6492240" cy="314260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32 pixels, 8 vegetation classes, 9 regions — purity ≥ 0.75 isolates the "unambiguous vegetation type" question.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EXPERIMENT 1 — GRIDMET EXPANSION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Experiment 1: Results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2514600" cy="109728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0.865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median R²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3552" y="1143000"/>
            <a:ext cx="2514600" cy="109728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73552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22/32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3552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pixels with R² ≥ 0.8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44184" y="1143000"/>
            <a:ext cx="2514600" cy="109728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44184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0.894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44184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mean Pearson 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14816" y="1143000"/>
            <a:ext cx="2514600" cy="109728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14816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1/32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14816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pixels with R² &lt; 0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02920" y="2560320"/>
          <a:ext cx="11185851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7171"/>
                <a:gridCol w="1789736"/>
                <a:gridCol w="1789736"/>
                <a:gridCol w="1789736"/>
                <a:gridCol w="1789736"/>
                <a:gridCol w="1789736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Median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Std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Min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Max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C2119"/>
                          </a:solidFill>
                          <a:latin typeface="Calibri"/>
                        </a:rPr>
                        <a:t>RMSE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0.215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0.213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0.127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0.036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0.485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C2119"/>
                          </a:solidFill>
                          <a:latin typeface="Calibri"/>
                        </a:rPr>
                        <a:t>MAE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0.160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0.162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0.096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0.028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0.426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C2119"/>
                          </a:solidFill>
                          <a:latin typeface="Calibri"/>
                        </a:rPr>
                        <a:t>R2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0.757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0.865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0.281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-0.348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0.973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C2119"/>
                          </a:solidFill>
                          <a:latin typeface="Calibri"/>
                        </a:rPr>
                        <a:t>Pearson_r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0.894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0.951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0.156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0.142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0.989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02920" y="4709160"/>
            <a:ext cx="1078992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450">
                <a:solidFill>
                  <a:srgbClr val="2F6F5E"/>
                </a:solidFill>
                <a:latin typeface="Calibri"/>
              </a:rPr>
              <a:t>▪  </a:t>
            </a:r>
            <a:r>
              <a:rPr sz="1450">
                <a:solidFill>
                  <a:srgbClr val="1C2119"/>
                </a:solidFill>
                <a:latin typeface="Calibri"/>
              </a:rPr>
              <a:t>Only 1/32 pixels scores R² &lt; 0 (px047_grass_nat, R²=-0.348) — a near-flat, low-amplitude grassland series, the same signal-to-noise failure mode already diagnosed in prior LOYO-CV work, not a new problem.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Median R²=0.865 across 32 diverse, purity-filtered pixels — the earlier 3-pixel result was not cherry-picked.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EXPERIMENT 1 — GRIDMET EXPANSION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Experiment 1: Performance by Pixel and Vegetation 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5</a:t>
            </a:r>
          </a:p>
        </p:txBody>
      </p:sp>
      <p:pic>
        <p:nvPicPr>
          <p:cNvPr id="6" name="Picture 5" descr="exp1_r2_by_pixel_and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9820"/>
            <a:ext cx="11185855" cy="459096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Tree/shrub-evergreen classes are most consistently strong; grassland and deciduous-shrub classes show the widest spread — driven by a handful of low-amplitude pixels, not the vegetation type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EXPERIMENT 2 — LARGE-SCALE CLOUD ERA5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Experiment 2: Google ARCO-ERA5 Dataset &amp;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5C6355"/>
                </a:solidFill>
                <a:latin typeface="Calibri"/>
              </a:rPr>
              <a:t>Source: </a:t>
            </a:r>
          </a:p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C2119"/>
                </a:solidFill>
                <a:latin typeface="Calibri"/>
              </a:rPr>
              <a:t>gs://gcp-public-data-arco-era5/ar/full_37-1h-0p25deg-chunk-1.zarr-v3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C6355"/>
                </a:solidFill>
                <a:latin typeface="Calibri"/>
              </a:rPr>
              <a:t>  — Google's Analysis-Ready, Cloud-Optimized ERA5 mirror, Zarr format, anonymous GCS read access, true ERA5 reanalysis (not ERA5-Land), 0.25° grid, hourly, 1900–2026 (used 2000–2022).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011680"/>
          <a:ext cx="11185854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2039"/>
                <a:gridCol w="4698059"/>
                <a:gridCol w="3355756"/>
              </a:tblGrid>
              <a:tr h="36004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Chronos-2 variable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ERA5 source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How it's obtained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</a:tr>
              <a:tr h="360045">
                <a:tc>
                  <a:txBody>
                    <a:bodyPr/>
                    <a:lstStyle/>
                    <a:p>
                      <a:pPr algn="l"/>
                      <a:r>
                        <a:rPr sz="1180" b="1">
                          <a:solidFill>
                            <a:srgbClr val="1C2119"/>
                          </a:solidFill>
                          <a:latin typeface="Calibri"/>
                        </a:rPr>
                        <a:t>tmmx (max temp)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80" b="0">
                          <a:solidFill>
                            <a:srgbClr val="1C2119"/>
                          </a:solidFill>
                          <a:latin typeface="Calibri"/>
                        </a:rPr>
                        <a:t>2m_temperature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80" b="0">
                          <a:solidFill>
                            <a:srgbClr val="1C2119"/>
                          </a:solidFill>
                          <a:latin typeface="Calibri"/>
                        </a:rPr>
                        <a:t>direct (daily maximum)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60045">
                <a:tc>
                  <a:txBody>
                    <a:bodyPr/>
                    <a:lstStyle/>
                    <a:p>
                      <a:pPr algn="l"/>
                      <a:r>
                        <a:rPr sz="1180" b="1">
                          <a:solidFill>
                            <a:srgbClr val="1C2119"/>
                          </a:solidFill>
                          <a:latin typeface="Calibri"/>
                        </a:rPr>
                        <a:t>tmmn (min temp)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80" b="0">
                          <a:solidFill>
                            <a:srgbClr val="1C2119"/>
                          </a:solidFill>
                          <a:latin typeface="Calibri"/>
                        </a:rPr>
                        <a:t>2m_temperature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80" b="0">
                          <a:solidFill>
                            <a:srgbClr val="1C2119"/>
                          </a:solidFill>
                          <a:latin typeface="Calibri"/>
                        </a:rPr>
                        <a:t>direct (daily minimum)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360045">
                <a:tc>
                  <a:txBody>
                    <a:bodyPr/>
                    <a:lstStyle/>
                    <a:p>
                      <a:pPr algn="l"/>
                      <a:r>
                        <a:rPr sz="1180" b="1">
                          <a:solidFill>
                            <a:srgbClr val="1C2119"/>
                          </a:solidFill>
                          <a:latin typeface="Calibri"/>
                        </a:rPr>
                        <a:t>pr (precipitation)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80" b="0">
                          <a:solidFill>
                            <a:srgbClr val="1C2119"/>
                          </a:solidFill>
                          <a:latin typeface="Calibri"/>
                        </a:rPr>
                        <a:t>total_precipitation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80" b="0">
                          <a:solidFill>
                            <a:srgbClr val="1C2119"/>
                          </a:solidFill>
                          <a:latin typeface="Calibri"/>
                        </a:rPr>
                        <a:t>direct (daily sum, m → mm)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60045">
                <a:tc>
                  <a:txBody>
                    <a:bodyPr/>
                    <a:lstStyle/>
                    <a:p>
                      <a:pPr algn="l"/>
                      <a:r>
                        <a:rPr sz="1180" b="1">
                          <a:solidFill>
                            <a:srgbClr val="1C2119"/>
                          </a:solidFill>
                          <a:latin typeface="Calibri"/>
                        </a:rPr>
                        <a:t>srad (solar radiation)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80" b="0">
                          <a:solidFill>
                            <a:srgbClr val="1C2119"/>
                          </a:solidFill>
                          <a:latin typeface="Calibri"/>
                        </a:rPr>
                        <a:t>surface_solar_radiation_downwards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80" b="0">
                          <a:solidFill>
                            <a:srgbClr val="1C2119"/>
                          </a:solidFill>
                          <a:latin typeface="Calibri"/>
                        </a:rPr>
                        <a:t>direct (daily mean, J/m² → W/m²)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360045">
                <a:tc>
                  <a:txBody>
                    <a:bodyPr/>
                    <a:lstStyle/>
                    <a:p>
                      <a:pPr algn="l"/>
                      <a:r>
                        <a:rPr sz="1180" b="1">
                          <a:solidFill>
                            <a:srgbClr val="1C2119"/>
                          </a:solidFill>
                          <a:latin typeface="Calibri"/>
                        </a:rPr>
                        <a:t>vpd (vapor pressure deficit)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80" b="0">
                          <a:solidFill>
                            <a:srgbClr val="1C2119"/>
                          </a:solidFill>
                          <a:latin typeface="Calibri"/>
                        </a:rPr>
                        <a:t>2m_temperature + 2m_dewpoint_temperature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80" b="0">
                          <a:solidFill>
                            <a:srgbClr val="1C2119"/>
                          </a:solidFill>
                          <a:latin typeface="Calibri"/>
                        </a:rPr>
                        <a:t>derived, FAO-56 Penman-Monteith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60045">
                <a:tc>
                  <a:txBody>
                    <a:bodyPr/>
                    <a:lstStyle/>
                    <a:p>
                      <a:pPr algn="l"/>
                      <a:r>
                        <a:rPr sz="1180" b="1">
                          <a:solidFill>
                            <a:srgbClr val="1C2119"/>
                          </a:solidFill>
                          <a:latin typeface="Calibri"/>
                        </a:rPr>
                        <a:t>sph (specific humidity)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80" b="0">
                          <a:solidFill>
                            <a:srgbClr val="1C2119"/>
                          </a:solidFill>
                          <a:latin typeface="Calibri"/>
                        </a:rPr>
                        <a:t>2m_dewpoint_temperature + surface_pressure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80" b="0">
                          <a:solidFill>
                            <a:srgbClr val="1C2119"/>
                          </a:solidFill>
                          <a:latin typeface="Calibri"/>
                        </a:rPr>
                        <a:t>derived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360045">
                <a:tc>
                  <a:txBody>
                    <a:bodyPr/>
                    <a:lstStyle/>
                    <a:p>
                      <a:pPr algn="l"/>
                      <a:r>
                        <a:rPr sz="1180" b="1">
                          <a:solidFill>
                            <a:srgbClr val="1C2119"/>
                          </a:solidFill>
                          <a:latin typeface="Calibri"/>
                        </a:rPr>
                        <a:t>vs (wind speed)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80" b="0">
                          <a:solidFill>
                            <a:srgbClr val="1C2119"/>
                          </a:solidFill>
                          <a:latin typeface="Calibri"/>
                        </a:rPr>
                        <a:t>10m u- and v-wind components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80" b="0">
                          <a:solidFill>
                            <a:srgbClr val="1C2119"/>
                          </a:solidFill>
                          <a:latin typeface="Calibri"/>
                        </a:rPr>
                        <a:t>magnitude of daily-mean vector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074920"/>
            <a:ext cx="1078992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350">
                <a:solidFill>
                  <a:srgbClr val="2F6F5E"/>
                </a:solidFill>
                <a:latin typeface="Calibri"/>
              </a:rPr>
              <a:t>▪  </a:t>
            </a:r>
            <a:r>
              <a:rPr sz="1350">
                <a:solidFill>
                  <a:srgbClr val="1C2119"/>
                </a:solidFill>
                <a:latin typeface="Calibri"/>
              </a:rPr>
              <a:t>Same 7-variable mapping as the existing CDS-based pipeline — this is a drop-in replacement, not a redesign.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350">
                <a:solidFill>
                  <a:srgbClr val="2F6F5E"/>
                </a:solidFill>
                <a:latin typeface="Calibri"/>
              </a:rPr>
              <a:t>▪  </a:t>
            </a:r>
            <a:r>
              <a:rPr sz="1350">
                <a:solidFill>
                  <a:srgbClr val="1C2119"/>
                </a:solidFill>
                <a:latin typeface="Calibri"/>
              </a:rPr>
              <a:t>Engineering finding: every ERA5 cloud store is chunked as one whole-world snapshot per hour; batching all 70 pixels into one read made the full 2000–2022 fetch a ~2-hour, one-time cost (vs. CDS's per-pixel, multi-day queue).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Same variable mapping, same units, same derivations as the CDS pipeline — only the acquisition path changed.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EXPERIMENT 2 — LARGE-SCALE CLOUD ERA5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Experiment 2: Pixel Distribution &amp; Experimental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4114800" cy="42062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00">
                <a:solidFill>
                  <a:srgbClr val="2F6F5E"/>
                </a:solidFill>
                <a:latin typeface="Calibri"/>
              </a:rPr>
              <a:t>▪  </a:t>
            </a:r>
            <a:r>
              <a:rPr sz="1500">
                <a:solidFill>
                  <a:srgbClr val="1C2119"/>
                </a:solidFill>
                <a:latin typeface="Calibri"/>
              </a:rPr>
              <a:t>Same 70-pixel CONUS pool as Experiment 1's parent set — reused unchanged, no new pixel sampling.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00">
                <a:solidFill>
                  <a:srgbClr val="2F6F5E"/>
                </a:solidFill>
                <a:latin typeface="Calibri"/>
              </a:rPr>
              <a:t>▪  </a:t>
            </a:r>
            <a:r>
              <a:rPr sz="1500">
                <a:solidFill>
                  <a:srgbClr val="1C2119"/>
                </a:solidFill>
                <a:latin typeface="Calibri"/>
              </a:rPr>
              <a:t>All 70 pixels are within the continental U.S. — the map below makes this explicit rather than implying a global sample.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00">
                <a:solidFill>
                  <a:srgbClr val="2F6F5E"/>
                </a:solidFill>
                <a:latin typeface="Calibri"/>
              </a:rPr>
              <a:t>▪  </a:t>
            </a:r>
            <a:r>
              <a:rPr sz="1500">
                <a:solidFill>
                  <a:srgbClr val="1C2119"/>
                </a:solidFill>
                <a:latin typeface="Calibri"/>
              </a:rPr>
              <a:t>Protocol matched to Experiment 1 exactly: context = 2000–2021 (~1,000 8-day composites), forecast = all steps of 2022, zero-shot Chronos-2, raw observed LAI as ground truth.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00">
                <a:solidFill>
                  <a:srgbClr val="2F6F5E"/>
                </a:solidFill>
                <a:latin typeface="Calibri"/>
              </a:rPr>
              <a:t>▪  </a:t>
            </a:r>
            <a:r>
              <a:rPr sz="1500">
                <a:solidFill>
                  <a:srgbClr val="1C2119"/>
                </a:solidFill>
                <a:latin typeface="Calibri"/>
              </a:rPr>
              <a:t>This fixes a limitation of the original ERA5 pilot, which used a much shorter 2-year context.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00">
                <a:solidFill>
                  <a:srgbClr val="2F6F5E"/>
                </a:solidFill>
                <a:latin typeface="Calibri"/>
              </a:rPr>
              <a:t>▪  </a:t>
            </a:r>
            <a:r>
              <a:rPr sz="1500">
                <a:solidFill>
                  <a:srgbClr val="1C2119"/>
                </a:solidFill>
                <a:latin typeface="Calibri"/>
              </a:rPr>
              <a:t>All 70 pixels completed successfully — 0 failures.</a:t>
            </a:r>
          </a:p>
        </p:txBody>
      </p:sp>
      <p:pic>
        <p:nvPicPr>
          <p:cNvPr id="7" name="Picture 6" descr="map_70pixel_con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720538"/>
            <a:ext cx="6492240" cy="314260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Identical pixel pool and context length to Experiment 1 — the only variable that changed is the meteorological data source.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EXPERIMENT 2 — VALIDATION BEFORE 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ERA5 Equivalence Validation: CDS vs. Cloud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5C6355"/>
                </a:solidFill>
                <a:latin typeface="Calibri"/>
              </a:rPr>
              <a:t>Before trusting the cloud source, it was validated against the original CDS pipeline on the same evergreen pixel, same 2021–2022 period.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45920"/>
          <a:ext cx="11185854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2746"/>
                <a:gridCol w="1230444"/>
                <a:gridCol w="1230444"/>
                <a:gridCol w="1230444"/>
                <a:gridCol w="1230444"/>
                <a:gridCol w="1230444"/>
                <a:gridCol w="1230444"/>
                <a:gridCol w="1230444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Raw variable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tmmx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tmmn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srad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vpd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sph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vs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Pearson r (CDS vs. cloud)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0.997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0.954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0.996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0.987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0.992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24688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5C6355"/>
                </a:solidFill>
                <a:latin typeface="Calibri"/>
              </a:rPr>
              <a:t>Zero-shot Chronos-2 forecast, same pixel, same short 2020–2021 context: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2834640"/>
          <a:ext cx="11185853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03190"/>
                <a:gridCol w="1454161"/>
                <a:gridCol w="1454161"/>
                <a:gridCol w="1454161"/>
                <a:gridCol w="1454161"/>
                <a:gridCol w="1566019"/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RMSE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MAE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MAPE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R²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Pearson r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CDS ERA5 (original)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0.5337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0.4462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14.596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0.7967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0.9017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Cloud ERA5 (this validation)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0.4200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0.3588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12.14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0.8741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0.9447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gridMET (same pixel, reference)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0.4850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0.4259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14.02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0.8322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0.9301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4343400"/>
            <a:ext cx="1078992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500"/>
              </a:spcAft>
            </a:pPr>
            <a:r>
              <a:rPr sz="1250">
                <a:solidFill>
                  <a:srgbClr val="2F6F5E"/>
                </a:solidFill>
                <a:latin typeface="Calibri"/>
              </a:rPr>
              <a:t>▪  </a:t>
            </a:r>
            <a:r>
              <a:rPr sz="1250">
                <a:solidFill>
                  <a:srgbClr val="1C2119"/>
                </a:solidFill>
                <a:latin typeface="Calibri"/>
              </a:rPr>
              <a:t>RESULT: 5 of 7 variables agree closely (r ≥ 0.987); precipitation and wind show a moderate, diagnosed-but-not-fully-resolved discrepancy, most likely from ERA5's forecast-cycle de-accumulation.</a:t>
            </a:r>
          </a:p>
          <a:p>
            <a:pPr>
              <a:lnSpc>
                <a:spcPct val="106000"/>
              </a:lnSpc>
              <a:spcAft>
                <a:spcPts val="500"/>
              </a:spcAft>
            </a:pPr>
            <a:r>
              <a:rPr sz="1250">
                <a:solidFill>
                  <a:srgbClr val="2F6F5E"/>
                </a:solidFill>
                <a:latin typeface="Calibri"/>
              </a:rPr>
              <a:t>▪  </a:t>
            </a:r>
            <a:r>
              <a:rPr sz="1250">
                <a:solidFill>
                  <a:srgbClr val="1C2119"/>
                </a:solidFill>
                <a:latin typeface="Calibri"/>
              </a:rPr>
              <a:t>INTERPRETATION: both CDS and cloud forecasts are "good" and bracket the independent gridMET result — consistent with ordinary data-source variability, not a broken pipeline.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Not identical, but comparable and independently plausible — cloud ERA5 was adopted as the primary source with this caveat disclosed.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EXPERIMENT 2 — LARGE-SCALE CLOUD ERA5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Experiment 2: Large-Scale Results (70 Pixels)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E7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3F5C"/>
                </a:solidFill>
                <a:latin typeface="Calibri"/>
              </a:rPr>
              <a:t>0.890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median R²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3552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E7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73552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3F5C"/>
                </a:solidFill>
                <a:latin typeface="Calibri"/>
              </a:rPr>
              <a:t>46/70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3552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pixels with R² ≥ 0.8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44184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E7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44184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3F5C"/>
                </a:solidFill>
                <a:latin typeface="Calibri"/>
              </a:rPr>
              <a:t>0.897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44184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mean Pearson 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14816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E7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14816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3F5C"/>
                </a:solidFill>
                <a:latin typeface="Calibri"/>
              </a:rPr>
              <a:t>6/70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14816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pixels with R² &lt; 0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02920" y="2468880"/>
          <a:ext cx="5669279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7868"/>
                <a:gridCol w="793699"/>
                <a:gridCol w="1133856"/>
                <a:gridCol w="1133856"/>
              </a:tblGrid>
              <a:tr h="36068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Mean R²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Median R²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algn="l"/>
                      <a:r>
                        <a:rPr sz="1080" b="1">
                          <a:solidFill>
                            <a:srgbClr val="1C2119"/>
                          </a:solidFill>
                          <a:latin typeface="Calibri"/>
                        </a:rPr>
                        <a:t>TREES_BD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0.939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0.939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algn="l"/>
                      <a:r>
                        <a:rPr sz="1080" b="1">
                          <a:solidFill>
                            <a:srgbClr val="1C2119"/>
                          </a:solidFill>
                          <a:latin typeface="Calibri"/>
                        </a:rPr>
                        <a:t>TREES_NE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0.901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0.908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algn="l"/>
                      <a:r>
                        <a:rPr sz="1080" b="1">
                          <a:solidFill>
                            <a:srgbClr val="1C2119"/>
                          </a:solidFill>
                          <a:latin typeface="Calibri"/>
                        </a:rPr>
                        <a:t>TREES_ND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0.860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0.929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algn="l"/>
                      <a:r>
                        <a:rPr sz="1080" b="1">
                          <a:solidFill>
                            <a:srgbClr val="1C2119"/>
                          </a:solidFill>
                          <a:latin typeface="Calibri"/>
                        </a:rPr>
                        <a:t>SHRUBS_NE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0.842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0.843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algn="l"/>
                      <a:r>
                        <a:rPr sz="1080" b="1">
                          <a:solidFill>
                            <a:srgbClr val="1C2119"/>
                          </a:solidFill>
                          <a:latin typeface="Calibri"/>
                        </a:rPr>
                        <a:t>GRASS_MAN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0.809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0.903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algn="l"/>
                      <a:r>
                        <a:rPr sz="1080" b="1">
                          <a:solidFill>
                            <a:srgbClr val="1C2119"/>
                          </a:solidFill>
                          <a:latin typeface="Calibri"/>
                        </a:rPr>
                        <a:t>GRASS_NAT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0.643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0.904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algn="l"/>
                      <a:r>
                        <a:rPr sz="1080" b="1">
                          <a:solidFill>
                            <a:srgbClr val="1C2119"/>
                          </a:solidFill>
                          <a:latin typeface="Calibri"/>
                        </a:rPr>
                        <a:t>SHRUBS_BD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0.471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0.519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algn="l"/>
                      <a:r>
                        <a:rPr sz="1080" b="1">
                          <a:solidFill>
                            <a:srgbClr val="1C2119"/>
                          </a:solidFill>
                          <a:latin typeface="Calibri"/>
                        </a:rPr>
                        <a:t>SHRUBS_ND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0.313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0.406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</a:tbl>
          </a:graphicData>
        </a:graphic>
      </p:graphicFrame>
      <p:pic>
        <p:nvPicPr>
          <p:cNvPr id="19" name="Picture 18" descr="exp2_r2_by_pixel_and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3074552"/>
            <a:ext cx="4846320" cy="198905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Median R²=0.890, 46/70 pixels ≥0.8 — comparable in shape to Experiment 1, using an independent meteorological source.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HEAD-TO-HEAD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ERA5 (Cloud) vs. gridMET — Same 70 Pixels, Same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10</a:t>
            </a:r>
          </a:p>
        </p:txBody>
      </p:sp>
      <p:pic>
        <p:nvPicPr>
          <p:cNvPr id="6" name="Picture 5" descr="era5_vs_gridmet_win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34172"/>
            <a:ext cx="5394960" cy="2482264"/>
          </a:xfrm>
          <a:prstGeom prst="rect">
            <a:avLst/>
          </a:prstGeom>
        </p:spPr>
      </p:pic>
      <p:pic>
        <p:nvPicPr>
          <p:cNvPr id="7" name="Picture 6" descr="exp2_vs_gridmet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1143000"/>
            <a:ext cx="4864608" cy="486460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ERA5 higher on 31/70, gridMET higher on 39/70, medians differ by only 0.015 — not a uniform win for either source.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WHERE EACH SOURCE STRUGGLES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Failure Cases &amp; Vegetation-Class Patterns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11</a:t>
            </a:r>
          </a:p>
        </p:txBody>
      </p:sp>
      <p:pic>
        <p:nvPicPr>
          <p:cNvPr id="6" name="Picture 5" descr="era5_vs_gridmet_by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4176" y="1143000"/>
            <a:ext cx="5763342" cy="265176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3931920"/>
          <a:ext cx="11185852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8322"/>
                <a:gridCol w="2013453"/>
                <a:gridCol w="2684605"/>
                <a:gridCol w="1789736"/>
                <a:gridCol w="1789736"/>
              </a:tblGrid>
              <a:tr h="29391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Pixel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Region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R² (ERA5)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R² (gridMET)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 algn="l"/>
                      <a:r>
                        <a:rPr sz="1080" b="1">
                          <a:solidFill>
                            <a:srgbClr val="1C2119"/>
                          </a:solidFill>
                          <a:latin typeface="Calibri"/>
                        </a:rPr>
                        <a:t>px047_grass_nat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GRASS_NAT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Southwest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-0.667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-0.348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 algn="l"/>
                      <a:r>
                        <a:rPr sz="1080" b="1">
                          <a:solidFill>
                            <a:srgbClr val="1C2119"/>
                          </a:solidFill>
                          <a:latin typeface="Calibri"/>
                        </a:rPr>
                        <a:t>px059_shrubs_bd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SHRUBS_BD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Great Plains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-0.295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0.265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 algn="l"/>
                      <a:r>
                        <a:rPr sz="1080" b="1">
                          <a:solidFill>
                            <a:srgbClr val="1C2119"/>
                          </a:solidFill>
                          <a:latin typeface="Calibri"/>
                        </a:rPr>
                        <a:t>px045_grass_nat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GRASS_NAT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Great Plains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-0.263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-0.724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 algn="l"/>
                      <a:r>
                        <a:rPr sz="1080" b="1">
                          <a:solidFill>
                            <a:srgbClr val="1C2119"/>
                          </a:solidFill>
                          <a:latin typeface="Calibri"/>
                        </a:rPr>
                        <a:t>px009_shrubs_nd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SHRUBS_ND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-0.182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0.366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 algn="l"/>
                      <a:r>
                        <a:rPr sz="1080" b="1">
                          <a:solidFill>
                            <a:srgbClr val="1C2119"/>
                          </a:solidFill>
                          <a:latin typeface="Calibri"/>
                        </a:rPr>
                        <a:t>px049_grass_nat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GRASS_NAT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Great Plains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-0.168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0.437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293916">
                <a:tc>
                  <a:txBody>
                    <a:bodyPr/>
                    <a:lstStyle/>
                    <a:p>
                      <a:pPr algn="l"/>
                      <a:r>
                        <a:rPr sz="1080" b="1">
                          <a:solidFill>
                            <a:srgbClr val="1C2119"/>
                          </a:solidFill>
                          <a:latin typeface="Calibri"/>
                        </a:rPr>
                        <a:t>px035_shrubs_nd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SHRUBS_ND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-0.128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0">
                          <a:solidFill>
                            <a:srgbClr val="1C2119"/>
                          </a:solidFill>
                          <a:latin typeface="Calibri"/>
                        </a:rPr>
                        <a:t>0.534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All 6 ERA5 failures are already-marginal SHRUBS_ND/SHRUBS_BD/GRASS_NAT pixels — 2 were already known low-signal cases; 4 are new, consistent with noisier ERA5 precipitation/wind on fragile pixels.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Main Findings &amp;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4A33"/>
                </a:solidFill>
                <a:latin typeface="Calibri"/>
              </a:rPr>
              <a:t>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0789920" cy="1051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450">
                <a:solidFill>
                  <a:srgbClr val="2F6F5E"/>
                </a:solidFill>
                <a:latin typeface="Calibri"/>
              </a:rPr>
              <a:t>▪  </a:t>
            </a:r>
            <a:r>
              <a:rPr sz="1450">
                <a:solidFill>
                  <a:srgbClr val="1C2119"/>
                </a:solidFill>
                <a:latin typeface="Calibri"/>
              </a:rPr>
              <a:t>Experiment 1 (gridMET, 32 pixels): median R²=0.865, 22/32 pixels ≥ 0.8.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450">
                <a:solidFill>
                  <a:srgbClr val="2F6F5E"/>
                </a:solidFill>
                <a:latin typeface="Calibri"/>
              </a:rPr>
              <a:t>▪  </a:t>
            </a:r>
            <a:r>
              <a:rPr sz="1450">
                <a:solidFill>
                  <a:srgbClr val="1C2119"/>
                </a:solidFill>
                <a:latin typeface="Calibri"/>
              </a:rPr>
              <a:t>Experiment 2 (cloud ERA5, 70 pixels, matched context): median R²=0.890, 46/70 pixels ≥ 0.8; vs. gridMET on the same pixels: 31/70 ERA5-better, 39/70 gridMET-better.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60604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5651D"/>
                </a:solidFill>
                <a:latin typeface="Calibri"/>
              </a:rPr>
              <a:t>INTERPRETATION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789920" cy="1417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>
                <a:solidFill>
                  <a:srgbClr val="B5651D"/>
                </a:solidFill>
                <a:latin typeface="Calibri"/>
              </a:rPr>
              <a:t>▪  </a:t>
            </a:r>
            <a:r>
              <a:rPr sz="1350">
                <a:solidFill>
                  <a:srgbClr val="1C2119"/>
                </a:solidFill>
                <a:latin typeface="Calibri"/>
              </a:rPr>
              <a:t>Strong zero-shot generalization is not an artifact of 3 hand-picked pixels or of gridMET specifically — it extends to a larger, diverse pool and to an independent meteorological source.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>
                <a:solidFill>
                  <a:srgbClr val="B5651D"/>
                </a:solidFill>
                <a:latin typeface="Calibri"/>
              </a:rPr>
              <a:t>▪  </a:t>
            </a:r>
            <a:r>
              <a:rPr sz="1350">
                <a:solidFill>
                  <a:srgbClr val="1C2119"/>
                </a:solidFill>
                <a:latin typeface="Calibri"/>
              </a:rPr>
              <a:t>gridMET and cloud-ERA5 are not interchangeable at the level of individual marginal pixels: ERA5 has a longer negative-R² tail, concentrated in already-fragile shrub/grassland pixels — do not read this as "ERA5 is worse than gridMET" in general; medians differ by only ~0.015 and ERA5 wins on 31/70 pixels.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43484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C6355"/>
                </a:solidFill>
                <a:latin typeface="Calibri"/>
              </a:rPr>
              <a:t>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754880"/>
            <a:ext cx="1078992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>
                <a:solidFill>
                  <a:srgbClr val="5C6355"/>
                </a:solidFill>
                <a:latin typeface="Calibri"/>
              </a:rPr>
              <a:t>▪  </a:t>
            </a:r>
            <a:r>
              <a:rPr sz="1350">
                <a:solidFill>
                  <a:srgbClr val="1C2119"/>
                </a:solidFill>
                <a:latin typeface="Calibri"/>
              </a:rPr>
              <a:t>Investigate the ERA5 precipitation/wind de-accumulation discrepancy directly (isolate which variable drives the 4 newly-negative pixels).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>
                <a:solidFill>
                  <a:srgbClr val="5C6355"/>
                </a:solidFill>
                <a:latin typeface="Calibri"/>
              </a:rPr>
              <a:t>▪  </a:t>
            </a:r>
            <a:r>
              <a:rPr sz="1350">
                <a:solidFill>
                  <a:srgbClr val="1C2119"/>
                </a:solidFill>
                <a:latin typeface="Calibri"/>
              </a:rPr>
              <a:t>Extend the matched-context comparison to non-CONUS pixels once a global LAI source is available.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Two independent large-scale tests point the same way: zero-shot Chronos-2's LAI generalization is robust to pixel choice and, largely, to the meteorological data source.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