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Update: Data Corrections + A Physics-Guided Fine-Tuning Experiment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SINCE LAST MEETING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10789920" cy="2743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600">
                <a:solidFill>
                  <a:srgbClr val="2F6F5E"/>
                </a:solidFill>
                <a:latin typeface="Calibri"/>
              </a:rPr>
              <a:t>▪  </a:t>
            </a:r>
            <a:r>
              <a:rPr sz="1600">
                <a:solidFill>
                  <a:srgbClr val="1C2119"/>
                </a:solidFill>
                <a:latin typeface="Calibri"/>
              </a:rPr>
              <a:t>Two data-quality issues found in the global-pool figures shown last meeting - root-caused, fixed, and every affected result regenerated.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600">
                <a:solidFill>
                  <a:srgbClr val="2F6F5E"/>
                </a:solidFill>
                <a:latin typeface="Calibri"/>
              </a:rPr>
              <a:t>▪  </a:t>
            </a:r>
            <a:r>
              <a:rPr sz="1600">
                <a:solidFill>
                  <a:srgbClr val="1C2119"/>
                </a:solidFill>
                <a:latin typeface="Calibri"/>
              </a:rPr>
              <a:t>A new experiment: adapted a physics-guided learning framework (PhyDL-NWP, KDD'25) to LAI forecasting, and used it to fine-tune Chronos-2 - what was built, and what a small-scale validation shows so far.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DATA CORRECTION 1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Correction 1: Global-Pool LAI Values Were 10x Too Small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19202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500">
                <a:solidFill>
                  <a:srgbClr val="2F6F5E"/>
                </a:solidFill>
                <a:latin typeface="Calibri"/>
              </a:rPr>
              <a:t>▪  </a:t>
            </a:r>
            <a:r>
              <a:rPr sz="1500">
                <a:solidFill>
                  <a:srgbClr val="1C2119"/>
                </a:solidFill>
                <a:latin typeface="Calibri"/>
              </a:rPr>
              <a:t>Root cause: the global LAI loader re-applied MODIS's 0.1 scale factor on top of values that NASA's AppEEARS API had already scaled to physical units - silently dividing every real LAI value by 10 again.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500">
                <a:solidFill>
                  <a:srgbClr val="2F6F5E"/>
                </a:solidFill>
                <a:latin typeface="Calibri"/>
              </a:rPr>
              <a:t>▪  </a:t>
            </a:r>
            <a:r>
              <a:rPr sz="1500">
                <a:solidFill>
                  <a:srgbClr val="1C2119"/>
                </a:solidFill>
                <a:latin typeface="Calibri"/>
              </a:rPr>
              <a:t>Caught by inspection: a global forest pixel's plotted LAI never exceeded 1.0 (real forest canopy reaches 3-7). Verified directly against the raw source file before fixing anything.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3246120"/>
          <a:ext cx="594360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1485900"/>
                <a:gridCol w="1485900"/>
              </a:tblGrid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g014_trees_ne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Before (bug)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After (fixed)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C2119"/>
                          </a:solidFill>
                          <a:latin typeface="Calibri"/>
                        </a:rPr>
                        <a:t>g014_trees_ne max LAI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C2119"/>
                          </a:solidFill>
                          <a:latin typeface="Calibri"/>
                        </a:rPr>
                        <a:t>0.66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C2119"/>
                          </a:solidFill>
                          <a:latin typeface="Calibri"/>
                        </a:rPr>
                        <a:t>6.60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C2119"/>
                          </a:solidFill>
                          <a:latin typeface="Calibri"/>
                        </a:rPr>
                        <a:t>g014_trees_ne mean LAI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C2119"/>
                          </a:solidFill>
                          <a:latin typeface="Calibri"/>
                        </a:rPr>
                        <a:t>0.21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C2119"/>
                          </a:solidFill>
                          <a:latin typeface="Calibri"/>
                        </a:rPr>
                        <a:t>2.13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48056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1">
                <a:solidFill>
                  <a:srgbClr val="5C6355"/>
                </a:solidFill>
                <a:latin typeface="Calibri"/>
              </a:rPr>
              <a:t>All 68 global pixels were affected (LAI, context, and the Chronos-2 predictions built from it). R², Pearson r, and MAPE are scale-invariant and came back numerically identical after the fix (verified directly, not assumed) - only RMSE/MAE and the raw LAI values/plots were wrong.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Every R²/variance number reported last meeting for the global pool still stands unchanged - only absolute LAI values and RMSE/MAE needed correcting.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DATA CORRECTION 2 OF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Correction 2: One "Forest" Example Pixel Was Mislabeled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21031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450">
                <a:solidFill>
                  <a:srgbClr val="2F6F5E"/>
                </a:solidFill>
                <a:latin typeface="Calibri"/>
              </a:rPr>
              <a:t>▪  </a:t>
            </a:r>
            <a:r>
              <a:rPr sz="1450">
                <a:solidFill>
                  <a:srgbClr val="1C2119"/>
                </a:solidFill>
                <a:latin typeface="Calibri"/>
              </a:rPr>
              <a:t>g024_trees_ne ("Western Europe evergreen forest") was one of the 8 example pixels shown last meeting. Its LAI collapsed to near-zero every winter - not what an evergreen forest does.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450">
                <a:solidFill>
                  <a:srgbClr val="2F6F5E"/>
                </a:solidFill>
                <a:latin typeface="Calibri"/>
              </a:rPr>
              <a:t>▪  </a:t>
            </a:r>
            <a:r>
              <a:rPr sz="1450">
                <a:solidFill>
                  <a:srgbClr val="1C2119"/>
                </a:solidFill>
                <a:latin typeface="Calibri"/>
              </a:rPr>
              <a:t>Cross-checked against an independent signal: MODIS's own internal biome-classification QC bit. 100% of its 1,047 retrievals were tagged non-forest, contradicting the "trees" label.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450">
                <a:solidFill>
                  <a:srgbClr val="2F6F5E"/>
                </a:solidFill>
                <a:latin typeface="Calibri"/>
              </a:rPr>
              <a:t>▪  </a:t>
            </a:r>
            <a:r>
              <a:rPr sz="1450">
                <a:solidFill>
                  <a:srgbClr val="1C2119"/>
                </a:solidFill>
                <a:latin typeface="Calibri"/>
              </a:rPr>
              <a:t>Checked all 20 "trees"-labeled pixels in the pool the same way: 7 of 20 disagree with MODIS's biome tag (likely a 300m source-map vs. 500m MODIS footprint mismatch at those specific coordinates, not a pipeline bug) - full list disclosed in the project report so any class-level analysis knows which pixels to treat with caution.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65760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C6355"/>
                </a:solidFill>
                <a:latin typeface="Calibri"/>
              </a:rPr>
              <a:t>Replaced with g019_trees_bd (Canada, deciduous broadleaf, R²=0.64) - the best-R² pixel among the 13 MODIS-confirmed forest pixels in the pool:</a:t>
            </a:r>
          </a:p>
        </p:txBody>
      </p:sp>
      <p:pic>
        <p:nvPicPr>
          <p:cNvPr id="8" name="Picture 7" descr="global70_top_performers_test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326" y="4023360"/>
            <a:ext cx="1861107" cy="198424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3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5A1228"/>
                </a:solidFill>
                <a:latin typeface="Calibri"/>
              </a:rPr>
              <a:t>TAKEAWAY 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5A1228"/>
                </a:solidFill>
                <a:latin typeface="Calibri"/>
              </a:rPr>
              <a:t>The swapped-in pixel shows the textbook deciduous leaf-out/senescence cycle a forest label should.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A78D6"/>
                </a:solidFill>
                <a:latin typeface="Calibri"/>
              </a:rPr>
              <a:t>PHYSICS-GUIDED FINE-TUNING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New Experiment: Physics-Guided Fine-Tuning for Chronos-2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23774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450">
                <a:solidFill>
                  <a:srgbClr val="2F6F5E"/>
                </a:solidFill>
                <a:latin typeface="Calibri"/>
              </a:rPr>
              <a:t>▪  </a:t>
            </a:r>
            <a:r>
              <a:rPr sz="1450">
                <a:solidFill>
                  <a:srgbClr val="1C2119"/>
                </a:solidFill>
                <a:latin typeface="Calibri"/>
              </a:rPr>
              <a:t>Adapted from PhyDL-NWP (Luo et al., KDD'25): two coordinate-conditioned networks - a field f(x,y,t) and a "latent force" Q - are trained jointly with a sparse set of PDE coefficients Ξ, then the learned physics is used to add a physics-consistency loss when fine-tuning a pretrained forecaster.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450">
                <a:solidFill>
                  <a:srgbClr val="2F6F5E"/>
                </a:solidFill>
                <a:latin typeface="Calibri"/>
              </a:rPr>
              <a:t>▪  </a:t>
            </a:r>
            <a:r>
              <a:rPr sz="1450">
                <a:solidFill>
                  <a:srgbClr val="1C2119"/>
                </a:solidFill>
                <a:latin typeface="Calibri"/>
              </a:rPr>
              <a:t>That paper's domain is meteorology on a spatial grid (advection/diffusion PDEs). Adapted here for a point-sampled vegetation variable with no canonical governing equation: replaced the PDE with a phenology growth/decay model (standard in the Growing-Season-Index family) built from this project's own ERA5 covariates - radiation-limited growth, temperature/precipitation forcing, VPD water stress, self-decay - with Ξ learned jointly across all 70 CONUS pixels rather than assumed.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450">
                <a:solidFill>
                  <a:srgbClr val="2F6F5E"/>
                </a:solidFill>
                <a:latin typeface="Calibri"/>
              </a:rPr>
              <a:t>▪  </a:t>
            </a:r>
            <a:r>
              <a:rPr sz="1450">
                <a:solidFill>
                  <a:srgbClr val="1C2119"/>
                </a:solidFill>
                <a:latin typeface="Calibri"/>
              </a:rPr>
              <a:t>Two stages: (1) fit the physics field + Ξ to 23 years of pooled CONUS LAI/climate data; (2) fine-tune Chronos-2 (shared LoRA adapter) with a physics-consistency term added to its loss.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2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3A6B"/>
                </a:solidFill>
                <a:latin typeface="Calibri"/>
              </a:rPr>
              <a:t>TAKEAWAY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43A6B"/>
                </a:solidFill>
                <a:latin typeface="Calibri"/>
              </a:rPr>
              <a:t>Chronos-2 itself stays strictly zero-shot throughout Stage 1 - the physics model is fit independently, then only used as an extra loss term when Stage 2 fine-tunes Chronos-2.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A78D6"/>
                </a:solidFill>
                <a:latin typeface="Calibri"/>
              </a:rPr>
              <a:t>PHYSICS-GUIDED FINE-TUNING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Stage 1: A Physics-Constrained LAI Field (Neural ODE)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5</a:t>
            </a:r>
          </a:p>
        </p:txBody>
      </p:sp>
      <p:pic>
        <p:nvPicPr>
          <p:cNvPr id="6" name="Picture 5" descr="stage1_neuralode_sanity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25962"/>
            <a:ext cx="6949440" cy="3498683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80960" y="1143000"/>
          <a:ext cx="4023359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6819"/>
                <a:gridCol w="112654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Learned term</a:t>
                      </a:r>
                    </a:p>
                  </a:txBody>
                  <a:tcPr marT="38100" marB="38100"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Ξ</a:t>
                      </a:r>
                    </a:p>
                  </a:txBody>
                  <a:tcPr marT="38100" marB="38100">
                    <a:solidFill>
                      <a:srgbClr val="2A78D6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radiation-limited growth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+1.89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LAI self-decay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−1.31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temperature forcing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−1.27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precipitation forcing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+0.62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bias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+1.06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VPD water-stress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+0.13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80960" y="3749040"/>
            <a:ext cx="40233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5C6355"/>
                </a:solidFill>
                <a:latin typeface="Calibri"/>
              </a:rPr>
              <a:t>Implemented as a genuine Neural ODE (integrates the learned growth/decay dynamics forward in time, rather than matching a derivative at scattered points) - an early scattered-point version produced jagged, physically implausible curves; integrating fixed it, shown here.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5C6355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5C6355"/>
                </a:solidFill>
                <a:latin typeface="Calibri"/>
              </a:rPr>
              <a:t>5 of 6 terms point the ecologically expected direction (growth from light/water/temperature, decay from VPD stress and natural turnover).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2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3A6B"/>
                </a:solidFill>
                <a:latin typeface="Calibri"/>
              </a:rPr>
              <a:t>TAKEAWAY 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43A6B"/>
                </a:solidFill>
                <a:latin typeface="Calibri"/>
              </a:rPr>
              <a:t>A clean, site-differentiated seasonal field - built, debugged across several iterations, and validated by inspection before being used in Stage 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A78D6"/>
                </a:solidFill>
                <a:latin typeface="Calibri"/>
              </a:rPr>
              <a:t>PHYSICS-GUIDED FINE-TUNING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Stage 2: Physics-Guided Chronos-2 Fine-Tuning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2743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450">
                <a:solidFill>
                  <a:srgbClr val="2F6F5E"/>
                </a:solidFill>
                <a:latin typeface="Calibri"/>
              </a:rPr>
              <a:t>▪  </a:t>
            </a:r>
            <a:r>
              <a:rPr sz="1450">
                <a:solidFill>
                  <a:srgbClr val="1C2119"/>
                </a:solidFill>
                <a:latin typeface="Calibri"/>
              </a:rPr>
              <a:t>A shared LoRA adapter (same target modules as the project's existing fine-tuning scripts) trained pooled across sites, not one adapter per pixel - consistent with Stage 1's own pooled design.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450">
                <a:solidFill>
                  <a:srgbClr val="2F6F5E"/>
                </a:solidFill>
                <a:latin typeface="Calibri"/>
              </a:rPr>
              <a:t>▪  </a:t>
            </a:r>
            <a:r>
              <a:rPr sz="1450">
                <a:solidFill>
                  <a:srgbClr val="1C2119"/>
                </a:solidFill>
                <a:latin typeface="Calibri"/>
              </a:rPr>
              <a:t>Custom training loop (not the standard HuggingFace trainer): that pipeline doesn't expose a custom-loss hook, and its batches don't retain which site/date each example came from - both needed to evaluate the physics term. Calls Chronos-2's model forward pass directly so gradients flow to the LoRA weights.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450">
                <a:solidFill>
                  <a:srgbClr val="2F6F5E"/>
                </a:solidFill>
                <a:latin typeface="Calibri"/>
              </a:rPr>
              <a:t>▪  </a:t>
            </a:r>
            <a:r>
              <a:rPr sz="1450">
                <a:solidFill>
                  <a:srgbClr val="1C2119"/>
                </a:solidFill>
                <a:latin typeface="Calibri"/>
              </a:rPr>
              <a:t>Loss = Chronos-2's own forecast loss (on real observed LAI, as in ordinary fine-tuning) + a physics term that penalizes Chronos-2's predicted LAI trajectory for deviating from Stage 1's learned growth/decay dynamics - a soft regularizer, not a hard constraint, and never trained against synthetic targets.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2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3A6B"/>
                </a:solidFill>
                <a:latin typeface="Calibri"/>
              </a:rPr>
              <a:t>TAKEAWAY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43A6B"/>
                </a:solidFill>
                <a:latin typeface="Calibri"/>
              </a:rPr>
              <a:t>Three conditions compared per fold: zero-shot, plain fine-tuning (no physics term), and physics-guided fine-tuning - isolating what the physics term itself contributes.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A78D6"/>
                </a:solidFill>
                <a:latin typeface="Calibri"/>
              </a:rPr>
              <a:t>PHYSICS-GUIDED FINE-TUNING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Small-Scale Validation: 3 Sites × 2 LOYO Folds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43000"/>
          <a:ext cx="11185853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5756"/>
                <a:gridCol w="1454161"/>
                <a:gridCol w="2125312"/>
                <a:gridCol w="2125312"/>
                <a:gridCol w="2125312"/>
              </a:tblGrid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Site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Zero-shot R²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Plain fine-tune R²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Physics-guided R²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C2119"/>
                          </a:solidFill>
                          <a:latin typeface="Calibri"/>
                        </a:rPr>
                        <a:t>evergreen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C2119"/>
                          </a:solidFill>
                          <a:latin typeface="Calibri"/>
                        </a:rPr>
                        <a:t>2012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C2119"/>
                          </a:solidFill>
                          <a:latin typeface="Calibri"/>
                        </a:rPr>
                        <a:t>−7.64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C2119"/>
                          </a:solidFill>
                          <a:latin typeface="Calibri"/>
                        </a:rPr>
                        <a:t>−8.44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C2119"/>
                          </a:solidFill>
                          <a:latin typeface="Calibri"/>
                        </a:rPr>
                        <a:t>−7.39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C2119"/>
                          </a:solidFill>
                          <a:latin typeface="Calibri"/>
                        </a:rPr>
                        <a:t>evergreen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C2119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C2119"/>
                          </a:solidFill>
                          <a:latin typeface="Calibri"/>
                        </a:rPr>
                        <a:t>0.832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C2119"/>
                          </a:solidFill>
                          <a:latin typeface="Calibri"/>
                        </a:rPr>
                        <a:t>0.865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C2119"/>
                          </a:solidFill>
                          <a:latin typeface="Calibri"/>
                        </a:rPr>
                        <a:t>0.761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C2119"/>
                          </a:solidFill>
                          <a:latin typeface="Calibri"/>
                        </a:rPr>
                        <a:t>high_amplitude_deciduous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C2119"/>
                          </a:solidFill>
                          <a:latin typeface="Calibri"/>
                        </a:rPr>
                        <a:t>2012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C2119"/>
                          </a:solidFill>
                          <a:latin typeface="Calibri"/>
                        </a:rPr>
                        <a:t>0.961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C2119"/>
                          </a:solidFill>
                          <a:latin typeface="Calibri"/>
                        </a:rPr>
                        <a:t>0.942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C2119"/>
                          </a:solidFill>
                          <a:latin typeface="Calibri"/>
                        </a:rPr>
                        <a:t>0.959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C2119"/>
                          </a:solidFill>
                          <a:latin typeface="Calibri"/>
                        </a:rPr>
                        <a:t>high_amplitude_deciduous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C2119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C2119"/>
                          </a:solidFill>
                          <a:latin typeface="Calibri"/>
                        </a:rPr>
                        <a:t>0.959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C2119"/>
                          </a:solidFill>
                          <a:latin typeface="Calibri"/>
                        </a:rPr>
                        <a:t>0.953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C2119"/>
                          </a:solidFill>
                          <a:latin typeface="Calibri"/>
                        </a:rPr>
                        <a:t>0.917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C2119"/>
                          </a:solidFill>
                          <a:latin typeface="Calibri"/>
                        </a:rPr>
                        <a:t>low_amplitude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C2119"/>
                          </a:solidFill>
                          <a:latin typeface="Calibri"/>
                        </a:rPr>
                        <a:t>2012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C2119"/>
                          </a:solidFill>
                          <a:latin typeface="Calibri"/>
                        </a:rPr>
                        <a:t>0.548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C2119"/>
                          </a:solidFill>
                          <a:latin typeface="Calibri"/>
                        </a:rPr>
                        <a:t>0.483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C2119"/>
                          </a:solidFill>
                          <a:latin typeface="Calibri"/>
                        </a:rPr>
                        <a:t>0.297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788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C2119"/>
                          </a:solidFill>
                          <a:latin typeface="Calibri"/>
                        </a:rPr>
                        <a:t>low_amplitude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C2119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C2119"/>
                          </a:solidFill>
                          <a:latin typeface="Calibri"/>
                        </a:rPr>
                        <a:t>0.560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C2119"/>
                          </a:solidFill>
                          <a:latin typeface="Calibri"/>
                        </a:rPr>
                        <a:t>0.613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C2119"/>
                          </a:solidFill>
                          <a:latin typeface="Calibri"/>
                        </a:rPr>
                        <a:t>0.462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023360"/>
            <a:ext cx="10789920" cy="1463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>
                <a:solidFill>
                  <a:srgbClr val="2A78D6"/>
                </a:solidFill>
                <a:latin typeface="Calibri"/>
              </a:rPr>
              <a:t>▪  </a:t>
            </a:r>
            <a:r>
              <a:rPr sz="1350">
                <a:solidFill>
                  <a:srgbClr val="1C2119"/>
                </a:solidFill>
                <a:latin typeface="Calibri"/>
              </a:rPr>
              <a:t>Scoped as a validation pass before committing to the full 70-pixel × 11-fold comparison - used to catch implementation issues early, and it did: an initial run surfaced a too-strong physics weight and a train/eval feature-scaling mismatch, both found and fixed (see build log in the repo).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>
                <a:solidFill>
                  <a:srgbClr val="2A78D6"/>
                </a:solidFill>
                <a:latin typeface="Calibri"/>
              </a:rPr>
              <a:t>▪  </a:t>
            </a:r>
            <a:r>
              <a:rPr sz="1350">
                <a:solidFill>
                  <a:srgbClr val="1C2119"/>
                </a:solidFill>
                <a:latin typeface="Calibri"/>
              </a:rPr>
              <a:t>After those fixes: 1 of 6 folds now has physics-guided fine-tuning beat both other conditions (high_amplitude_deciduous/2012); the other 5 still favor plain fine-tuning or zero-shot.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2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3A6B"/>
                </a:solidFill>
                <a:latin typeface="Calibri"/>
              </a:rPr>
              <a:t>TAKEAWAY 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43A6B"/>
                </a:solidFill>
                <a:latin typeface="Calibri"/>
              </a:rPr>
              <a:t>The pipeline (Stage 1 + Stage 2 + 3-way comparison) is built, debugged, and runs end to end - the physics term's benefit, at this scale, is not yet consistent.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Summary &amp;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E4A33"/>
                </a:solidFill>
                <a:latin typeface="Calibri"/>
              </a:rPr>
              <a:t>WHAT WAS BUILT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0789920" cy="1188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400">
                <a:solidFill>
                  <a:srgbClr val="2F6F5E"/>
                </a:solidFill>
                <a:latin typeface="Calibri"/>
              </a:rPr>
              <a:t>▪  </a:t>
            </a:r>
            <a:r>
              <a:rPr sz="1400">
                <a:solidFill>
                  <a:srgbClr val="1C2119"/>
                </a:solidFill>
                <a:latin typeface="Calibri"/>
              </a:rPr>
              <a:t>Two data-correctness issues from last meeting's figures found, root-caused, fixed, and disclosed (scale bug + pixel mislabeling) - all downstream results regenerated.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400">
                <a:solidFill>
                  <a:srgbClr val="2F6F5E"/>
                </a:solidFill>
                <a:latin typeface="Calibri"/>
              </a:rPr>
              <a:t>▪  </a:t>
            </a:r>
            <a:r>
              <a:rPr sz="1400">
                <a:solidFill>
                  <a:srgbClr val="1C2119"/>
                </a:solidFill>
                <a:latin typeface="Calibri"/>
              </a:rPr>
              <a:t>An end-to-end physics-guided fine-tuning pipeline for Chronos-2, adapted from a recent (KDD'25) physics-guided learning paper to a vegetation variable with no prior physics-ML precedent in this project.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83464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5651D"/>
                </a:solidFill>
                <a:latin typeface="Calibri"/>
              </a:rPr>
              <a:t>CURRENT RESULT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154680"/>
            <a:ext cx="10789920" cy="10058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400">
                <a:solidFill>
                  <a:srgbClr val="B5651D"/>
                </a:solidFill>
                <a:latin typeface="Calibri"/>
              </a:rPr>
              <a:t>▪  </a:t>
            </a:r>
            <a:r>
              <a:rPr sz="1400">
                <a:solidFill>
                  <a:srgbClr val="1C2119"/>
                </a:solidFill>
                <a:latin typeface="Calibri"/>
              </a:rPr>
              <a:t>In the small-scale validation, the physics term does not yet consistently improve on plain fine-tuning - plausibly because Chronos-2's own pretrained prior, from large-scale time-series pretraining, already captures much of what the hand-built phenology terms encode.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34340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5C6355"/>
                </a:solidFill>
                <a:latin typeface="Calibri"/>
              </a:rPr>
              <a:t>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663440"/>
            <a:ext cx="1078992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400">
                <a:solidFill>
                  <a:srgbClr val="5C6355"/>
                </a:solidFill>
                <a:latin typeface="Calibri"/>
              </a:rPr>
              <a:t>▪  </a:t>
            </a:r>
            <a:r>
              <a:rPr sz="1400">
                <a:solidFill>
                  <a:srgbClr val="1C2119"/>
                </a:solidFill>
                <a:latin typeface="Calibri"/>
              </a:rPr>
              <a:t>Candidates: use the physics field for gap-filling instead of a training-time loss, or test whether it helps more in the weaker global pool, where Chronos-2's implicit prior may be less saturated.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Both workstreams are now in a clean, documented, reproducible state - ready for discussion.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