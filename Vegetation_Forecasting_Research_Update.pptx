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269748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F6F5E"/>
                </a:solidFill>
                <a:latin typeface="Calibri"/>
              </a:rPr>
              <a:t>RESEARCH GROUP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10512"/>
            <a:ext cx="10607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C211C"/>
                </a:solidFill>
                <a:latin typeface="Calibri"/>
              </a:rPr>
              <a:t>Vegetation LAI Forecasting:</a:t>
            </a:r>
          </a:p>
          <a:p>
            <a:pPr algn="l">
              <a:lnSpc>
                <a:spcPct val="105000"/>
              </a:lnSpc>
            </a:pPr>
            <a:r>
              <a:rPr sz="3800" b="1" i="0">
                <a:solidFill>
                  <a:srgbClr val="1C211C"/>
                </a:solidFill>
                <a:latin typeface="Calibri"/>
              </a:rPr>
              <a:t>Robustness, Predictors, and Fine-Tuning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429000"/>
            <a:ext cx="1188720" cy="508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1">
                <a:solidFill>
                  <a:srgbClr val="5B6358"/>
                </a:solidFill>
                <a:latin typeface="Calibri"/>
              </a:rPr>
              <a:t>AELSTM + Chronos-2 vegetation forecasting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1772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Rolling-Origin LOYO Cross-Validation</a:t>
            </a:r>
          </a:p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Predictor Sensitivity / Ablation Study</a:t>
            </a:r>
          </a:p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FFFFFF"/>
                </a:solidFill>
                <a:latin typeface="Calibri"/>
              </a:rPr>
              <a:t>Improved Chronos-2 LoRA Fine-Tuning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0080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D8E6E1"/>
                </a:solidFill>
                <a:latin typeface="Calibri"/>
              </a:rPr>
              <a:t>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Recap: Pixels and Baseline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2</a:t>
            </a:r>
          </a:p>
        </p:txBody>
      </p:sp>
      <p:pic>
        <p:nvPicPr>
          <p:cNvPr id="5" name="Picture 4" descr="pixel_location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06889"/>
            <a:ext cx="5120640" cy="2695582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89320" y="1143000"/>
          <a:ext cx="569945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828800"/>
                <a:gridCol w="2133295"/>
              </a:tblGrid>
              <a:tr h="3886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Pixel</a:t>
                      </a:r>
                    </a:p>
                  </a:txBody>
                  <a:tcPr marT="50800" marB="508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Location</a:t>
                      </a:r>
                    </a:p>
                  </a:txBody>
                  <a:tcPr marT="50800" marB="508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Land cover</a:t>
                      </a:r>
                    </a:p>
                  </a:txBody>
                  <a:tcPr marT="50800" marB="50800">
                    <a:solidFill>
                      <a:srgbClr val="2F6F5E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11C"/>
                          </a:solidFill>
                          <a:latin typeface="Calibri"/>
                        </a:rPr>
                        <a:t>low_amplitude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11C"/>
                          </a:solidFill>
                          <a:latin typeface="Calibri"/>
                        </a:rPr>
                        <a:t>37.53°N, 117.56°W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11C"/>
                          </a:solidFill>
                          <a:latin typeface="Calibri"/>
                        </a:rPr>
                        <a:t>Natural grassland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11C"/>
                          </a:solidFill>
                          <a:latin typeface="Calibri"/>
                        </a:rPr>
                        <a:t>high_amplitude_</a:t>
                      </a:r>
                    </a:p>
                    <a:p>
                      <a:r>
                        <a:t>deciduous</a:t>
                      </a:r>
                    </a:p>
                  </a:txBody>
                  <a:tcPr marT="50800" marB="50800"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11C"/>
                          </a:solidFill>
                          <a:latin typeface="Calibri"/>
                        </a:rPr>
                        <a:t>36.23°N, 84.47°W</a:t>
                      </a:r>
                    </a:p>
                  </a:txBody>
                  <a:tcPr marT="50800" marB="50800"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11C"/>
                          </a:solidFill>
                          <a:latin typeface="Calibri"/>
                        </a:rPr>
                        <a:t>Broadleaf deciduous forest</a:t>
                      </a:r>
                    </a:p>
                  </a:txBody>
                  <a:tcPr marT="50800" marB="50800">
                    <a:solidFill>
                      <a:srgbClr val="EAF2E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C211C"/>
                          </a:solidFill>
                          <a:latin typeface="Calibri"/>
                        </a:rPr>
                        <a:t>evergreen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11C"/>
                          </a:solidFill>
                          <a:latin typeface="Calibri"/>
                        </a:rPr>
                        <a:t>30.53°N, 82.43°W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C211C"/>
                          </a:solidFill>
                          <a:latin typeface="Calibri"/>
                        </a:rPr>
                        <a:t>Needleleaf evergreen forest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89320" y="2971800"/>
            <a:ext cx="5699455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8 AELSTM-family models: AELSTM, BiLSTM, LSTM, GRU, RNN, CNN, RF, SVM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Chronos-2 (zero-shot and LoRA fine-tuned), using historical LAI + historical climate + known future climate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7 gridMET predictors: tmmx, tmmn, pr, srad, vpd, sph, vs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Baseline protocol: train 2000–2021, test 2022, scored against raw observed LAI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Same 3 pixels, same 8+2 methods, and raw-observation scoring underlie all 3 studies below.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ROLLING-ORIGIN LOYO-CV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Motivation: Is One Test Year Enough?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864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900">
                <a:solidFill>
                  <a:srgbClr val="2F6F5E"/>
                </a:solidFill>
                <a:latin typeface="Calibri"/>
              </a:rPr>
              <a:t>▪  </a:t>
            </a:r>
            <a:r>
              <a:rPr sz="1900">
                <a:solidFill>
                  <a:srgbClr val="1C211C"/>
                </a:solidFill>
                <a:latin typeface="Calibri"/>
              </a:rPr>
              <a:t>The baseline protocol trains on 2000–2021 and tests on exactly one year: 2022.</a:t>
            </a:r>
          </a:p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900">
                <a:solidFill>
                  <a:srgbClr val="2F6F5E"/>
                </a:solidFill>
                <a:latin typeface="Calibri"/>
              </a:rPr>
              <a:t>▪  </a:t>
            </a:r>
            <a:r>
              <a:rPr sz="1900">
                <a:solidFill>
                  <a:srgbClr val="1C211C"/>
                </a:solidFill>
                <a:latin typeface="Calibri"/>
              </a:rPr>
              <a:t>A single test year cannot separate “good model” from “model that got a lucky (or unlucky) year.”</a:t>
            </a:r>
          </a:p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900">
                <a:solidFill>
                  <a:srgbClr val="2F6F5E"/>
                </a:solidFill>
                <a:latin typeface="Calibri"/>
              </a:rPr>
              <a:t>▪  </a:t>
            </a:r>
            <a:r>
              <a:rPr sz="1900">
                <a:solidFill>
                  <a:srgbClr val="1C211C"/>
                </a:solidFill>
                <a:latin typeface="Calibri"/>
              </a:rPr>
              <a:t>2022 turned out not to be an anomalous year at any of the 3 pixels — so single-year evaluation gives no evidence about how models behave when a real anomaly (drought, noisy year) occurs.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We need evidence across many held-out years, not confidence built on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ROLLING-ORIGIN LOYO-CV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Rolling-Origin LOYO-CV: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115568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50">
                <a:solidFill>
                  <a:srgbClr val="2F6F5E"/>
                </a:solidFill>
                <a:latin typeface="Calibri"/>
              </a:rPr>
              <a:t>▪  </a:t>
            </a:r>
            <a:r>
              <a:rPr sz="1750">
                <a:solidFill>
                  <a:srgbClr val="1C211C"/>
                </a:solidFill>
                <a:latin typeface="Calibri"/>
              </a:rPr>
              <a:t>Fixed 12-year training window immediately before each held-out year (not classic all-other-years LOYO, and not an expanding window).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750">
                <a:solidFill>
                  <a:srgbClr val="2F6F5E"/>
                </a:solidFill>
                <a:latin typeface="Calibri"/>
              </a:rPr>
              <a:t>▪  </a:t>
            </a:r>
            <a:r>
              <a:rPr sz="1750">
                <a:solidFill>
                  <a:srgbClr val="1C211C"/>
                </a:solidFill>
                <a:latin typeface="Calibri"/>
              </a:rPr>
              <a:t>11 folds: held-out years 2012–2022. Same 10 methods, same 3 pixels, scored against raw observed LAI.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743200"/>
            <a:ext cx="2331720" cy="50292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2331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E4A3E"/>
                </a:solidFill>
                <a:latin typeface="Calibri"/>
              </a:rPr>
              <a:t>train 2000–2011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523390" y="3310128"/>
            <a:ext cx="839419" cy="256032"/>
          </a:xfrm>
          <a:prstGeom prst="rightArrow">
            <a:avLst/>
          </a:prstGeom>
          <a:solidFill>
            <a:srgbClr val="5B6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26998" y="3703320"/>
            <a:ext cx="1632204" cy="4572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6998" y="3703320"/>
            <a:ext cx="16322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test 2012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97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8B9385"/>
                </a:solidFill>
                <a:latin typeface="Calibri"/>
              </a:rPr>
              <a:t>fold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29000" y="2743200"/>
            <a:ext cx="2331720" cy="50292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9000" y="2743200"/>
            <a:ext cx="2331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E4A3E"/>
                </a:solidFill>
                <a:latin typeface="Calibri"/>
              </a:rPr>
              <a:t>train 2001–2012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75150" y="3310128"/>
            <a:ext cx="839419" cy="256032"/>
          </a:xfrm>
          <a:prstGeom prst="rightArrow">
            <a:avLst/>
          </a:prstGeom>
          <a:solidFill>
            <a:srgbClr val="5B6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78758" y="3703320"/>
            <a:ext cx="1632204" cy="4572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8758" y="3703320"/>
            <a:ext cx="16322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test 2013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4297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8B9385"/>
                </a:solidFill>
                <a:latin typeface="Calibri"/>
              </a:rPr>
              <a:t>fold 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743200"/>
            <a:ext cx="2331720" cy="50292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2743200"/>
            <a:ext cx="2331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E4A3E"/>
                </a:solidFill>
                <a:latin typeface="Calibri"/>
              </a:rPr>
              <a:t>train ...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6826910" y="3310128"/>
            <a:ext cx="839419" cy="256032"/>
          </a:xfrm>
          <a:prstGeom prst="rightArrow">
            <a:avLst/>
          </a:prstGeom>
          <a:solidFill>
            <a:srgbClr val="5B6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30518" y="3703320"/>
            <a:ext cx="1632204" cy="4572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0518" y="3703320"/>
            <a:ext cx="16322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test ...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4297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8B9385"/>
                </a:solidFill>
                <a:latin typeface="Calibri"/>
              </a:rPr>
              <a:t>fold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32520" y="2743200"/>
            <a:ext cx="2331720" cy="502920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32520" y="2743200"/>
            <a:ext cx="2331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E4A3E"/>
                </a:solidFill>
                <a:latin typeface="Calibri"/>
              </a:rPr>
              <a:t>train 2010–2021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478670" y="3310128"/>
            <a:ext cx="839419" cy="256032"/>
          </a:xfrm>
          <a:prstGeom prst="rightArrow">
            <a:avLst/>
          </a:prstGeom>
          <a:solidFill>
            <a:srgbClr val="5B6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82278" y="3703320"/>
            <a:ext cx="1632204" cy="4572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2278" y="3703320"/>
            <a:ext cx="163220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test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4297680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8B9385"/>
                </a:solidFill>
                <a:latin typeface="Calibri"/>
              </a:rPr>
              <a:t>fold 11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A fixed window isolates genuine year-to-year difficulty from training-set-size effects.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ROLLING-ORIGIN LOYO-CV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Model Performance: Stable at Some Pixels, Volatile at Others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5</a:t>
            </a:r>
          </a:p>
        </p:txBody>
      </p:sp>
      <p:pic>
        <p:nvPicPr>
          <p:cNvPr id="6" name="Picture 5" descr="loyo_r2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706" y="1143000"/>
            <a:ext cx="8534283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11185855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C"/>
                </a:solidFill>
                <a:latin typeface="Calibri"/>
              </a:rPr>
              <a:t>high_amplitude_deciduous: all 10 methods score R² 0.89–0.99 across 11 years — stable regardless of method.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C"/>
                </a:solidFill>
                <a:latin typeface="Calibri"/>
              </a:rPr>
              <a:t>low_amplitude and evergreen: much wider spread, and every method has one severe outlier fold.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C"/>
                </a:solidFill>
                <a:latin typeface="Calibri"/>
              </a:rPr>
              <a:t>At evergreen, every method’s mean R² is near zero or negative — but every median is a healthy 0.48–0.68.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Report median alongside mean — a single anomalous fold can dominate the average.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ROLLING-ORIGIN LOYO-CV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Which Models Are Consistently Strong?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6</a:t>
            </a:r>
          </a:p>
        </p:txBody>
      </p:sp>
      <p:pic>
        <p:nvPicPr>
          <p:cNvPr id="6" name="Picture 5" descr="loyo_ranking_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1844"/>
            <a:ext cx="6949440" cy="41354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6680" y="1417320"/>
            <a:ext cx="4114800" cy="4864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RF (mean rank 3.39) and Chronos-2 zero-shot (3.70) are top-3 on ~6 of every 10 folds, and rarely worst.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LoRA fine-tuning is the single most volatile method — frequent top-3 AND frequent bottom-3 finishes.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AELSTM (bottom-3 on 36% of folds) and CNN (58%) are the least reliable methods overall.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Random Forest and Chronos-2 zero-shot are the most dependable models across all 33 folds.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ROLLING-ORIGIN LOYO-CV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Two Outlier Folds, Two Different Failure Modes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loyo_outlier_fold_investig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5212" y="1143000"/>
            <a:ext cx="8001271" cy="2971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97680"/>
            <a:ext cx="11185855" cy="10972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evergreen / 2012 (z = −3.0): a real, sustained drought — LAI never reaches its expected seasonal peak for months.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low_amplitude / 2018 (z = −2.9): not a climate anomaly — an erratic, noisy year at an already low-signal pixel.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No year was difficult across all 3 pixels at once — difficulty is pixel-specific, not a shared climate signal.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A single fixed 2022 test year could never have revealed either failure mode.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1 — ROLLING-ORIGIN LOYO-CV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Part 1 Takeaway: LOYO-CV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4864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>
                <a:solidFill>
                  <a:srgbClr val="2F6F5E"/>
                </a:solidFill>
                <a:latin typeface="Calibri"/>
              </a:rPr>
              <a:t>▪  </a:t>
            </a:r>
            <a:r>
              <a:rPr sz="1800">
                <a:solidFill>
                  <a:srgbClr val="1C211C"/>
                </a:solidFill>
                <a:latin typeface="Calibri"/>
              </a:rPr>
              <a:t>Rolling-origin LOYO-CV gives a far more robust, realistic evaluation than a single fixed test year.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>
                <a:solidFill>
                  <a:srgbClr val="2F6F5E"/>
                </a:solidFill>
                <a:latin typeface="Calibri"/>
              </a:rPr>
              <a:t>▪  </a:t>
            </a:r>
            <a:r>
              <a:rPr sz="1800">
                <a:solidFill>
                  <a:srgbClr val="1C211C"/>
                </a:solidFill>
                <a:latin typeface="Calibri"/>
              </a:rPr>
              <a:t>Model performance varies substantially across pixels and years — there is no universal winner.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>
                <a:solidFill>
                  <a:srgbClr val="2F6F5E"/>
                </a:solidFill>
                <a:latin typeface="Calibri"/>
              </a:rPr>
              <a:t>▪  </a:t>
            </a:r>
            <a:r>
              <a:rPr sz="1800">
                <a:solidFill>
                  <a:srgbClr val="1C211C"/>
                </a:solidFill>
                <a:latin typeface="Calibri"/>
              </a:rPr>
              <a:t>Random Forest and Chronos-2 zero-shot are the most consistently strong models across 33 folds.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800">
                <a:solidFill>
                  <a:srgbClr val="2F6F5E"/>
                </a:solidFill>
                <a:latin typeface="Calibri"/>
              </a:rPr>
              <a:t>▪  </a:t>
            </a:r>
            <a:r>
              <a:rPr sz="1800">
                <a:solidFill>
                  <a:srgbClr val="1C211C"/>
                </a:solidFill>
                <a:latin typeface="Calibri"/>
              </a:rPr>
              <a:t>Chronos-2’s advantage comes from normal years, not special resilience to anomalous ones — it was among the worst methods on the evergreen drought fold.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LOYO-CV reveals failure modes that single-year (2022-only) evaluation completely misses.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2 — PREDICTOR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Predictor Sensitivity: Experimental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1115568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C"/>
                </a:solidFill>
                <a:latin typeface="Calibri"/>
              </a:rPr>
              <a:t>Baseline: all 7 predictors (tmmx, tmmn, pr, srad, vpd, sph, vs) — reused from already-verified results, not rerun.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C"/>
                </a:solidFill>
                <a:latin typeface="Calibri"/>
              </a:rPr>
              <a:t>Phase 1 — leave-one-predictor-out: 7 configs, each dropping exactly one predictor.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C"/>
                </a:solidFill>
                <a:latin typeface="Calibri"/>
              </a:rPr>
              <a:t>Phase 2 — 4 grouped ablations, selection rule fixed before Phase 1 ran: top-3 essential only, drop the least-important pair, plus two a priori pairs — {tmmx,tmmn} and {vpd,sph}.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C"/>
                </a:solidFill>
                <a:latin typeface="Calibri"/>
              </a:rPr>
              <a:t>9 methods (8 AELSTM-family + Chronos-2 zero-shot) × 3 pixels; Chronos-2 fine-tuning excluded to keep the search computationally manageable.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A small, pre-registered design instead of an intractable 2⁷ = 128-subset search.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2 — PREDICTOR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Predictor Importance Is Model- and Pixel-Specific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predictor_model_pixel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335" y="1143000"/>
            <a:ext cx="10059024" cy="2880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06240"/>
            <a:ext cx="11185855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C"/>
                </a:solidFill>
                <a:latin typeface="Calibri"/>
              </a:rPr>
              <a:t>Same predictor removal helps one model and hurts another at the same pixel (e.g. dropping pr helps GRU, hurts RNN/CNN at low_amplitude).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C"/>
                </a:solidFill>
                <a:latin typeface="Calibri"/>
              </a:rPr>
              <a:t>high_amplitude_deciduous is largely insensitive to any single predictor — near-ceiling performance regardless.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C"/>
                </a:solidFill>
                <a:latin typeface="Calibri"/>
              </a:rPr>
              <a:t>low_amplitude and evergreen show large, heterogeneous ΔR² in both directions.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No single predictor-importance ranking applies to every model or every pixel.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2 — PREDICTOR SENSITIVITY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srad Matters Most; vs and pr Are Redundant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predictor_reduced_s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18175"/>
            <a:ext cx="6949440" cy="38228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6680" y="1417320"/>
            <a:ext cx="4114800" cy="4864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srad is the only predictor that helps at all 3 pixels — the single most important variable overall.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Temperature (tmmx/tmmn) is critical at low_amplitude but unimportant — even mildly harmful — elsewhere.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Dropping the 2 least-important predictors (vs, pr) improves mean R² at all 3 pixels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A leaner 5-predictor set (tmmx, tmmn, srad, vpd, sph) is a validated, better default.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3 — IMPROVED LoRA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The Original Fine-Tuning Had No Safety 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1155680" cy="4864608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900">
                <a:solidFill>
                  <a:srgbClr val="2F6F5E"/>
                </a:solidFill>
                <a:latin typeface="Calibri"/>
              </a:rPr>
              <a:t>▪  </a:t>
            </a:r>
            <a:r>
              <a:rPr sz="1900">
                <a:solidFill>
                  <a:srgbClr val="1C211C"/>
                </a:solidFill>
                <a:latin typeface="Calibri"/>
              </a:rPr>
              <a:t>fit() was called without validation_inputs → eval_strategy=“no”, load_best_model_at_end=False.</a:t>
            </a:r>
          </a:p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900">
                <a:solidFill>
                  <a:srgbClr val="2F6F5E"/>
                </a:solidFill>
                <a:latin typeface="Calibri"/>
              </a:rPr>
              <a:t>▪  </a:t>
            </a:r>
            <a:r>
              <a:rPr sz="1900">
                <a:solidFill>
                  <a:srgbClr val="1C211C"/>
                </a:solidFill>
                <a:latin typeface="Calibri"/>
              </a:rPr>
              <a:t>Trained a fixed 1000 steps and kept whatever weights existed at that instant — no way to detect overfitting.</a:t>
            </a:r>
          </a:p>
          <a:p>
            <a:pPr>
              <a:lnSpc>
                <a:spcPct val="108000"/>
              </a:lnSpc>
              <a:spcAft>
                <a:spcPts val="2200"/>
              </a:spcAft>
            </a:pPr>
            <a:r>
              <a:rPr sz="1900">
                <a:solidFill>
                  <a:srgbClr val="2F6F5E"/>
                </a:solidFill>
                <a:latin typeface="Calibri"/>
              </a:rPr>
              <a:t>▪  </a:t>
            </a:r>
            <a:r>
              <a:rPr sz="1900">
                <a:solidFill>
                  <a:srgbClr val="1C211C"/>
                </a:solidFill>
                <a:latin typeface="Calibri"/>
              </a:rPr>
              <a:t>LoRA hyperparameters (lr=1e-4, r=8, α=16) were taken verbatim from Amazon’s own notebook, never tuned for this dataset.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No validation signal → no way to know whether fine-tuning helped or hurt.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3 — IMPROVED LoRA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Improved Design: Validation-Based Checkpoint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netune_winner_train_val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147" y="1143000"/>
            <a:ext cx="899940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114800"/>
            <a:ext cx="11185855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Chronological validation split from pre-2022 data (2020 &amp; 2021 folds) — 2022 stays completely untouched.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Small search: learning rate ∈ {1e-5, 1e-4} × LoRA rank ∈ {4, 8, 16}, with early stopping; best checkpoint chosen purely by validation loss.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550">
                <a:solidFill>
                  <a:srgbClr val="2F6F5E"/>
                </a:solidFill>
                <a:latin typeface="Calibri"/>
              </a:rPr>
              <a:t>▪  </a:t>
            </a:r>
            <a:r>
              <a:rPr sz="1550">
                <a:solidFill>
                  <a:srgbClr val="1C211C"/>
                </a:solidFill>
                <a:latin typeface="Calibri"/>
              </a:rPr>
              <a:t>low_amplitude overfits immediately (best step = 100); the other two pixels show genuine interior validation-loss minima.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Confirmed from source: validation_inputs auto-selects the best checkpoint, not the final training step.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PART 3 — IMPROVED LoRA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C211C"/>
                </a:solidFill>
                <a:latin typeface="Calibri"/>
              </a:rPr>
              <a:t>Validation-Based Tuning Recovers Most of the Lost Performance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58240"/>
                <a:gridCol w="1158240"/>
                <a:gridCol w="1158240"/>
              </a:tblGrid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Pixel</a:t>
                      </a:r>
                    </a:p>
                  </a:txBody>
                  <a:tcPr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Zero-shot</a:t>
                      </a:r>
                    </a:p>
                  </a:txBody>
                  <a:tcPr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Original</a:t>
                      </a:r>
                    </a:p>
                    <a:p>
                      <a:r>
                        <a:t>LoRA</a:t>
                      </a:r>
                    </a:p>
                  </a:txBody>
                  <a:tcPr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Improved</a:t>
                      </a:r>
                    </a:p>
                    <a:p>
                      <a:r>
                        <a:t>LoRA</a:t>
                      </a:r>
                    </a:p>
                  </a:txBody>
                  <a:tcPr>
                    <a:solidFill>
                      <a:srgbClr val="2F6F5E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11C"/>
                          </a:solidFill>
                          <a:latin typeface="Calibri"/>
                        </a:rPr>
                        <a:t>low_amplitude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0.542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11C"/>
                          </a:solidFill>
                          <a:latin typeface="Calibri"/>
                        </a:rPr>
                        <a:t>high_amplitude_</a:t>
                      </a:r>
                    </a:p>
                    <a:p>
                      <a:r>
                        <a:t>deciduous</a:t>
                      </a:r>
                    </a:p>
                  </a:txBody>
                  <a:tcPr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0.965</a:t>
                      </a:r>
                    </a:p>
                  </a:txBody>
                  <a:tcPr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0.952</a:t>
                      </a:r>
                    </a:p>
                  </a:txBody>
                  <a:tcPr>
                    <a:solidFill>
                      <a:srgbClr val="EAF2E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0.942</a:t>
                      </a:r>
                    </a:p>
                  </a:txBody>
                  <a:tcPr>
                    <a:solidFill>
                      <a:srgbClr val="EAF2E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C211C"/>
                          </a:solidFill>
                          <a:latin typeface="Calibri"/>
                        </a:rPr>
                        <a:t>evergreen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0.832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0.712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C211C"/>
                          </a:solidFill>
                          <a:latin typeface="Calibri"/>
                        </a:rPr>
                        <a:t>0.829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474720"/>
            <a:ext cx="548640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C"/>
                </a:solidFill>
                <a:latin typeface="Calibri"/>
              </a:rPr>
              <a:t>Gap to zero-shot shrinks from −0.163 to −0.042 at low_amplitude, and from −0.120 to −0.003 at evergreen.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C"/>
                </a:solidFill>
                <a:latin typeface="Calibri"/>
              </a:rPr>
              <a:t>Improved LoRA still does not outright beat zero-shot on any of the 3 pixels.</a:t>
            </a:r>
          </a:p>
        </p:txBody>
      </p:sp>
      <p:pic>
        <p:nvPicPr>
          <p:cNvPr id="8" name="Picture 7" descr="three_way_comparison_ever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549061"/>
            <a:ext cx="5379415" cy="293691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A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E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E4A3E"/>
                </a:solidFill>
                <a:latin typeface="Calibri"/>
              </a:rPr>
              <a:t>Most of the original degradation was a training-setup artifact, not fundamental to LoRA itself.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Overall Conclusions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5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3643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4A3E"/>
                </a:solidFill>
                <a:latin typeface="Calibri"/>
              </a:rPr>
              <a:t>What We Learned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20"/>
            <a:ext cx="5364327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Rolling-origin LOYO-CV is essential — it reveals failure modes a single 2022 test year cannot.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Model performance and predictor importance both vary substantially across pixels and years.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srad is the most consistently important predictor; vs and pr are measurably redundant.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Random Forest and Chronos-2 zero-shot are the most consistently strong models across LOYO folds — Chronos-2 zero-shot remains very competitive.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The original LoRA degradation was largely caused by the fine-tuning setup, not LoRA itself; validation-based checkpoint selection recovers most of it — but improved LoRA still doesn’t consistently beat zero-shot.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417320"/>
            <a:ext cx="536432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E4A3E"/>
                </a:solidFill>
                <a:latin typeface="Calibr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874520"/>
            <a:ext cx="5364327" cy="4572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Extend LOYO-CV and the predictor ablation to the remaining 3 selected pixels (cropland, grassland/shrubland, high-interannual-variability).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Adopt the reduced 5-predictor set (tmmx, tmmn, srad, vpd, sph) as the new default and re-validate across more pixels.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Explore validation-informed fine-tuning further — more validation folds, a wider search — to test whether LoRA can be made to consistently beat zero-shot.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C"/>
                </a:solidFill>
                <a:latin typeface="Calibri"/>
              </a:rPr>
              <a:t>Investigate why Chronos-2 (zero-shot and fine-tuned) underperforms specifically on sustained climate anomalies like the evergreen drought fold.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